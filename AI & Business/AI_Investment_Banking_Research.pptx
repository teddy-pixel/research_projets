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36"/>
    <p:restoredTop sz="94643"/>
  </p:normalViewPr>
  <p:slideViewPr>
    <p:cSldViewPr snapToGrid="0">
      <p:cViewPr varScale="1">
        <p:scale>
          <a:sx n="111" d="100"/>
          <a:sy n="111" d="100"/>
        </p:scale>
        <p:origin x="24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175158-8897-4247-B10C-E14C411DB9D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3257F8C-A7F1-461B-9190-69FC0B7E65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Produce </a:t>
          </a:r>
          <a:r>
            <a:rPr lang="en-US" b="1"/>
            <a:t>in-depth, data-backed stock reports</a:t>
          </a:r>
          <a:r>
            <a:rPr lang="en-US"/>
            <a:t> for portfolio managers and clients.</a:t>
          </a:r>
        </a:p>
      </dgm:t>
    </dgm:pt>
    <dgm:pt modelId="{314B4BE7-F65F-431F-BE8D-CD12EAF14DCE}" type="parTrans" cxnId="{8002FBA0-2225-4265-90E4-C0FDDE065623}">
      <dgm:prSet/>
      <dgm:spPr/>
      <dgm:t>
        <a:bodyPr/>
        <a:lstStyle/>
        <a:p>
          <a:endParaRPr lang="en-US"/>
        </a:p>
      </dgm:t>
    </dgm:pt>
    <dgm:pt modelId="{36C7A361-8612-4AE6-9FFD-B9DDAB9C5001}" type="sibTrans" cxnId="{8002FBA0-2225-4265-90E4-C0FDDE06562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A5467A6-C101-40C8-BF44-E92A76C732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Cope with </a:t>
          </a:r>
          <a:r>
            <a:rPr lang="en-US" b="1"/>
            <a:t>heavy time pressure</a:t>
          </a:r>
          <a:r>
            <a:rPr lang="en-US"/>
            <a:t>, especially around earnings and rating changes.</a:t>
          </a:r>
        </a:p>
      </dgm:t>
    </dgm:pt>
    <dgm:pt modelId="{877FCB83-9D38-472D-998B-2C50569C8E14}" type="parTrans" cxnId="{100BDEC9-0E63-40C7-B199-2BD01D48F71A}">
      <dgm:prSet/>
      <dgm:spPr/>
      <dgm:t>
        <a:bodyPr/>
        <a:lstStyle/>
        <a:p>
          <a:endParaRPr lang="en-US"/>
        </a:p>
      </dgm:t>
    </dgm:pt>
    <dgm:pt modelId="{44190803-E46A-41E9-9BDB-2F23F534731A}" type="sibTrans" cxnId="{100BDEC9-0E63-40C7-B199-2BD01D48F71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8FE6DF1-C37B-430F-B123-33CCF8015F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Manually pull and reconcile information from </a:t>
          </a:r>
          <a:r>
            <a:rPr lang="en-US" b="1"/>
            <a:t>multiple sources</a:t>
          </a:r>
          <a:br>
            <a:rPr lang="en-US"/>
          </a:br>
          <a:r>
            <a:rPr lang="en-US"/>
            <a:t>(market data, filings, news, analyst commentary).</a:t>
          </a:r>
        </a:p>
      </dgm:t>
    </dgm:pt>
    <dgm:pt modelId="{8AE650A3-F652-463E-8D38-5DEF68CA5604}" type="parTrans" cxnId="{ABB43713-BD84-4183-9684-681D0184212C}">
      <dgm:prSet/>
      <dgm:spPr/>
      <dgm:t>
        <a:bodyPr/>
        <a:lstStyle/>
        <a:p>
          <a:endParaRPr lang="en-US"/>
        </a:p>
      </dgm:t>
    </dgm:pt>
    <dgm:pt modelId="{6BB7A3BA-2111-4024-8F42-60B81C0FD3D9}" type="sibTrans" cxnId="{ABB43713-BD84-4183-9684-681D0184212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353F114-5E88-4BDB-8836-D81C32132A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Maintain a </a:t>
          </a:r>
          <a:r>
            <a:rPr lang="en-US" b="1"/>
            <a:t>consistent report structure and quality</a:t>
          </a:r>
          <a:r>
            <a:rPr lang="en-US"/>
            <a:t> across different tickers and analysts.</a:t>
          </a:r>
        </a:p>
      </dgm:t>
    </dgm:pt>
    <dgm:pt modelId="{8D7B7A0D-4BA7-4E31-B4B9-3FC809C3E3F2}" type="parTrans" cxnId="{F18BDC5E-9F53-4C88-9578-2D1213FF4AA5}">
      <dgm:prSet/>
      <dgm:spPr/>
      <dgm:t>
        <a:bodyPr/>
        <a:lstStyle/>
        <a:p>
          <a:endParaRPr lang="en-US"/>
        </a:p>
      </dgm:t>
    </dgm:pt>
    <dgm:pt modelId="{D8A62DCB-6C4B-49DB-A675-A4BBB71ED2C9}" type="sibTrans" cxnId="{F18BDC5E-9F53-4C88-9578-2D1213FF4AA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ABF2E01-1F2D-4498-B9F9-67E5EE1F16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Free up analyst time for </a:t>
          </a:r>
          <a:r>
            <a:rPr lang="en-US" b="1"/>
            <a:t>higher-value work</a:t>
          </a:r>
          <a:r>
            <a:rPr lang="en-US"/>
            <a:t>: idea generation, client conversations, and deep dives.</a:t>
          </a:r>
        </a:p>
      </dgm:t>
    </dgm:pt>
    <dgm:pt modelId="{22D87D8D-34D9-4253-98A3-BBC5C38AAC89}" type="parTrans" cxnId="{1B68E8D6-2B83-456E-9ED6-6EC4AFD8800A}">
      <dgm:prSet/>
      <dgm:spPr/>
      <dgm:t>
        <a:bodyPr/>
        <a:lstStyle/>
        <a:p>
          <a:endParaRPr lang="en-US"/>
        </a:p>
      </dgm:t>
    </dgm:pt>
    <dgm:pt modelId="{2DB93CB2-ECD2-496F-9A3F-454D5A97FF70}" type="sibTrans" cxnId="{1B68E8D6-2B83-456E-9ED6-6EC4AFD8800A}">
      <dgm:prSet/>
      <dgm:spPr/>
      <dgm:t>
        <a:bodyPr/>
        <a:lstStyle/>
        <a:p>
          <a:endParaRPr lang="en-US"/>
        </a:p>
      </dgm:t>
    </dgm:pt>
    <dgm:pt modelId="{8147E572-17C2-4ADF-80F5-F781416D25D2}" type="pres">
      <dgm:prSet presAssocID="{A5175158-8897-4247-B10C-E14C411DB9D5}" presName="root" presStyleCnt="0">
        <dgm:presLayoutVars>
          <dgm:dir/>
          <dgm:resizeHandles val="exact"/>
        </dgm:presLayoutVars>
      </dgm:prSet>
      <dgm:spPr/>
    </dgm:pt>
    <dgm:pt modelId="{2A415530-5C75-40EF-8B33-9E370F073393}" type="pres">
      <dgm:prSet presAssocID="{A5175158-8897-4247-B10C-E14C411DB9D5}" presName="container" presStyleCnt="0">
        <dgm:presLayoutVars>
          <dgm:dir/>
          <dgm:resizeHandles val="exact"/>
        </dgm:presLayoutVars>
      </dgm:prSet>
      <dgm:spPr/>
    </dgm:pt>
    <dgm:pt modelId="{26147950-EF8A-43FA-83FB-2C1F645077B3}" type="pres">
      <dgm:prSet presAssocID="{93257F8C-A7F1-461B-9190-69FC0B7E6549}" presName="compNode" presStyleCnt="0"/>
      <dgm:spPr/>
    </dgm:pt>
    <dgm:pt modelId="{98B96BED-1365-4FD3-BF26-576E53AACB68}" type="pres">
      <dgm:prSet presAssocID="{93257F8C-A7F1-461B-9190-69FC0B7E6549}" presName="iconBgRect" presStyleLbl="bgShp" presStyleIdx="0" presStyleCnt="5"/>
      <dgm:spPr/>
    </dgm:pt>
    <dgm:pt modelId="{A4B45326-3AED-4E97-B4E5-BC49A061A556}" type="pres">
      <dgm:prSet presAssocID="{93257F8C-A7F1-461B-9190-69FC0B7E654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123F48C1-1D79-4FA4-8059-F2A6DAE6952C}" type="pres">
      <dgm:prSet presAssocID="{93257F8C-A7F1-461B-9190-69FC0B7E6549}" presName="spaceRect" presStyleCnt="0"/>
      <dgm:spPr/>
    </dgm:pt>
    <dgm:pt modelId="{3BFF5E20-D71E-437E-B202-D9C3EC09511E}" type="pres">
      <dgm:prSet presAssocID="{93257F8C-A7F1-461B-9190-69FC0B7E6549}" presName="textRect" presStyleLbl="revTx" presStyleIdx="0" presStyleCnt="5">
        <dgm:presLayoutVars>
          <dgm:chMax val="1"/>
          <dgm:chPref val="1"/>
        </dgm:presLayoutVars>
      </dgm:prSet>
      <dgm:spPr/>
    </dgm:pt>
    <dgm:pt modelId="{C29D12C1-5441-4312-9C18-5F4BD6B0DC7C}" type="pres">
      <dgm:prSet presAssocID="{36C7A361-8612-4AE6-9FFD-B9DDAB9C5001}" presName="sibTrans" presStyleLbl="sibTrans2D1" presStyleIdx="0" presStyleCnt="0"/>
      <dgm:spPr/>
    </dgm:pt>
    <dgm:pt modelId="{B57821FA-A2CA-49AF-9AFF-3D2B357947CE}" type="pres">
      <dgm:prSet presAssocID="{8A5467A6-C101-40C8-BF44-E92A76C7327C}" presName="compNode" presStyleCnt="0"/>
      <dgm:spPr/>
    </dgm:pt>
    <dgm:pt modelId="{CD2D21FA-0797-4496-B123-6B49C48875BC}" type="pres">
      <dgm:prSet presAssocID="{8A5467A6-C101-40C8-BF44-E92A76C7327C}" presName="iconBgRect" presStyleLbl="bgShp" presStyleIdx="1" presStyleCnt="5"/>
      <dgm:spPr/>
    </dgm:pt>
    <dgm:pt modelId="{6DCA814A-5D36-4AB0-A3E6-FAF77285B81A}" type="pres">
      <dgm:prSet presAssocID="{8A5467A6-C101-40C8-BF44-E92A76C7327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5FE10F13-62B5-4D78-9086-00E25085CCED}" type="pres">
      <dgm:prSet presAssocID="{8A5467A6-C101-40C8-BF44-E92A76C7327C}" presName="spaceRect" presStyleCnt="0"/>
      <dgm:spPr/>
    </dgm:pt>
    <dgm:pt modelId="{35AC8683-DD4F-4B4F-8351-719969C8B021}" type="pres">
      <dgm:prSet presAssocID="{8A5467A6-C101-40C8-BF44-E92A76C7327C}" presName="textRect" presStyleLbl="revTx" presStyleIdx="1" presStyleCnt="5">
        <dgm:presLayoutVars>
          <dgm:chMax val="1"/>
          <dgm:chPref val="1"/>
        </dgm:presLayoutVars>
      </dgm:prSet>
      <dgm:spPr/>
    </dgm:pt>
    <dgm:pt modelId="{661558CB-1EF0-46B3-AB55-0077B6A29286}" type="pres">
      <dgm:prSet presAssocID="{44190803-E46A-41E9-9BDB-2F23F534731A}" presName="sibTrans" presStyleLbl="sibTrans2D1" presStyleIdx="0" presStyleCnt="0"/>
      <dgm:spPr/>
    </dgm:pt>
    <dgm:pt modelId="{1AEAF865-B5DF-4552-A0FD-3130DB0D2D7A}" type="pres">
      <dgm:prSet presAssocID="{C8FE6DF1-C37B-430F-B123-33CCF8015FD0}" presName="compNode" presStyleCnt="0"/>
      <dgm:spPr/>
    </dgm:pt>
    <dgm:pt modelId="{6E3A1D43-2A41-473B-A514-F7E750CAD872}" type="pres">
      <dgm:prSet presAssocID="{C8FE6DF1-C37B-430F-B123-33CCF8015FD0}" presName="iconBgRect" presStyleLbl="bgShp" presStyleIdx="2" presStyleCnt="5"/>
      <dgm:spPr/>
    </dgm:pt>
    <dgm:pt modelId="{6D2A5294-53DE-430E-8FCA-6FC510662E68}" type="pres">
      <dgm:prSet presAssocID="{C8FE6DF1-C37B-430F-B123-33CCF8015FD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F6165B48-A818-43C7-A656-9A1D12EB4C84}" type="pres">
      <dgm:prSet presAssocID="{C8FE6DF1-C37B-430F-B123-33CCF8015FD0}" presName="spaceRect" presStyleCnt="0"/>
      <dgm:spPr/>
    </dgm:pt>
    <dgm:pt modelId="{ACC0BC38-E27F-4653-A691-BAD1F651A76F}" type="pres">
      <dgm:prSet presAssocID="{C8FE6DF1-C37B-430F-B123-33CCF8015FD0}" presName="textRect" presStyleLbl="revTx" presStyleIdx="2" presStyleCnt="5">
        <dgm:presLayoutVars>
          <dgm:chMax val="1"/>
          <dgm:chPref val="1"/>
        </dgm:presLayoutVars>
      </dgm:prSet>
      <dgm:spPr/>
    </dgm:pt>
    <dgm:pt modelId="{8728F324-C5AD-46FA-9C5D-940503B8281C}" type="pres">
      <dgm:prSet presAssocID="{6BB7A3BA-2111-4024-8F42-60B81C0FD3D9}" presName="sibTrans" presStyleLbl="sibTrans2D1" presStyleIdx="0" presStyleCnt="0"/>
      <dgm:spPr/>
    </dgm:pt>
    <dgm:pt modelId="{9A6BABA4-10E9-4C90-9F9B-C357FB327B7A}" type="pres">
      <dgm:prSet presAssocID="{D353F114-5E88-4BDB-8836-D81C32132AF5}" presName="compNode" presStyleCnt="0"/>
      <dgm:spPr/>
    </dgm:pt>
    <dgm:pt modelId="{844D3430-18E4-4DC2-879F-BEA15021EC3C}" type="pres">
      <dgm:prSet presAssocID="{D353F114-5E88-4BDB-8836-D81C32132AF5}" presName="iconBgRect" presStyleLbl="bgShp" presStyleIdx="3" presStyleCnt="5"/>
      <dgm:spPr/>
    </dgm:pt>
    <dgm:pt modelId="{F648F7BB-0A65-4753-822C-EE5064FC9620}" type="pres">
      <dgm:prSet presAssocID="{D353F114-5E88-4BDB-8836-D81C32132AF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491525A7-C2FF-460F-9635-D268D7F03A68}" type="pres">
      <dgm:prSet presAssocID="{D353F114-5E88-4BDB-8836-D81C32132AF5}" presName="spaceRect" presStyleCnt="0"/>
      <dgm:spPr/>
    </dgm:pt>
    <dgm:pt modelId="{F0731190-BA9D-4E18-B431-764FD60E8AD2}" type="pres">
      <dgm:prSet presAssocID="{D353F114-5E88-4BDB-8836-D81C32132AF5}" presName="textRect" presStyleLbl="revTx" presStyleIdx="3" presStyleCnt="5">
        <dgm:presLayoutVars>
          <dgm:chMax val="1"/>
          <dgm:chPref val="1"/>
        </dgm:presLayoutVars>
      </dgm:prSet>
      <dgm:spPr/>
    </dgm:pt>
    <dgm:pt modelId="{B5377D2E-91FB-4149-8951-E2AD4376F327}" type="pres">
      <dgm:prSet presAssocID="{D8A62DCB-6C4B-49DB-A675-A4BBB71ED2C9}" presName="sibTrans" presStyleLbl="sibTrans2D1" presStyleIdx="0" presStyleCnt="0"/>
      <dgm:spPr/>
    </dgm:pt>
    <dgm:pt modelId="{B2562F42-EB80-444F-AB6A-D2DBBDB2F7A1}" type="pres">
      <dgm:prSet presAssocID="{2ABF2E01-1F2D-4498-B9F9-67E5EE1F161B}" presName="compNode" presStyleCnt="0"/>
      <dgm:spPr/>
    </dgm:pt>
    <dgm:pt modelId="{611E2D23-A817-4936-B339-6B3EC3CBA55A}" type="pres">
      <dgm:prSet presAssocID="{2ABF2E01-1F2D-4498-B9F9-67E5EE1F161B}" presName="iconBgRect" presStyleLbl="bgShp" presStyleIdx="4" presStyleCnt="5"/>
      <dgm:spPr/>
    </dgm:pt>
    <dgm:pt modelId="{BAA96533-6E70-46F5-8220-F9D5C042318A}" type="pres">
      <dgm:prSet presAssocID="{2ABF2E01-1F2D-4498-B9F9-67E5EE1F161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7EEF6153-E637-406A-9C4D-37CB378E0913}" type="pres">
      <dgm:prSet presAssocID="{2ABF2E01-1F2D-4498-B9F9-67E5EE1F161B}" presName="spaceRect" presStyleCnt="0"/>
      <dgm:spPr/>
    </dgm:pt>
    <dgm:pt modelId="{B9E10355-3E7C-4DE4-BA6F-2FF9E17EA405}" type="pres">
      <dgm:prSet presAssocID="{2ABF2E01-1F2D-4498-B9F9-67E5EE1F161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06979410-C6E3-0943-A24F-A27485312D9F}" type="presOf" srcId="{8A5467A6-C101-40C8-BF44-E92A76C7327C}" destId="{35AC8683-DD4F-4B4F-8351-719969C8B021}" srcOrd="0" destOrd="0" presId="urn:microsoft.com/office/officeart/2018/2/layout/IconCircleList"/>
    <dgm:cxn modelId="{ABB43713-BD84-4183-9684-681D0184212C}" srcId="{A5175158-8897-4247-B10C-E14C411DB9D5}" destId="{C8FE6DF1-C37B-430F-B123-33CCF8015FD0}" srcOrd="2" destOrd="0" parTransId="{8AE650A3-F652-463E-8D38-5DEF68CA5604}" sibTransId="{6BB7A3BA-2111-4024-8F42-60B81C0FD3D9}"/>
    <dgm:cxn modelId="{ADB99B1C-4C86-7244-8F4E-05F1FE442C1B}" type="presOf" srcId="{D8A62DCB-6C4B-49DB-A675-A4BBB71ED2C9}" destId="{B5377D2E-91FB-4149-8951-E2AD4376F327}" srcOrd="0" destOrd="0" presId="urn:microsoft.com/office/officeart/2018/2/layout/IconCircleList"/>
    <dgm:cxn modelId="{4516C825-A674-F541-9062-E388559044C5}" type="presOf" srcId="{6BB7A3BA-2111-4024-8F42-60B81C0FD3D9}" destId="{8728F324-C5AD-46FA-9C5D-940503B8281C}" srcOrd="0" destOrd="0" presId="urn:microsoft.com/office/officeart/2018/2/layout/IconCircleList"/>
    <dgm:cxn modelId="{E212C746-8C56-EE4E-9AC2-B957E7B2B189}" type="presOf" srcId="{2ABF2E01-1F2D-4498-B9F9-67E5EE1F161B}" destId="{B9E10355-3E7C-4DE4-BA6F-2FF9E17EA405}" srcOrd="0" destOrd="0" presId="urn:microsoft.com/office/officeart/2018/2/layout/IconCircleList"/>
    <dgm:cxn modelId="{78F60A4F-AC18-8047-A92F-E31CF86ADDCA}" type="presOf" srcId="{44190803-E46A-41E9-9BDB-2F23F534731A}" destId="{661558CB-1EF0-46B3-AB55-0077B6A29286}" srcOrd="0" destOrd="0" presId="urn:microsoft.com/office/officeart/2018/2/layout/IconCircleList"/>
    <dgm:cxn modelId="{F18BDC5E-9F53-4C88-9578-2D1213FF4AA5}" srcId="{A5175158-8897-4247-B10C-E14C411DB9D5}" destId="{D353F114-5E88-4BDB-8836-D81C32132AF5}" srcOrd="3" destOrd="0" parTransId="{8D7B7A0D-4BA7-4E31-B4B9-3FC809C3E3F2}" sibTransId="{D8A62DCB-6C4B-49DB-A675-A4BBB71ED2C9}"/>
    <dgm:cxn modelId="{DA83826E-4D8E-5B48-93F5-78FEEE09EEEC}" type="presOf" srcId="{36C7A361-8612-4AE6-9FFD-B9DDAB9C5001}" destId="{C29D12C1-5441-4312-9C18-5F4BD6B0DC7C}" srcOrd="0" destOrd="0" presId="urn:microsoft.com/office/officeart/2018/2/layout/IconCircleList"/>
    <dgm:cxn modelId="{C06F2B8F-A8CD-BE4C-9285-74DD335F3BA2}" type="presOf" srcId="{93257F8C-A7F1-461B-9190-69FC0B7E6549}" destId="{3BFF5E20-D71E-437E-B202-D9C3EC09511E}" srcOrd="0" destOrd="0" presId="urn:microsoft.com/office/officeart/2018/2/layout/IconCircleList"/>
    <dgm:cxn modelId="{8002FBA0-2225-4265-90E4-C0FDDE065623}" srcId="{A5175158-8897-4247-B10C-E14C411DB9D5}" destId="{93257F8C-A7F1-461B-9190-69FC0B7E6549}" srcOrd="0" destOrd="0" parTransId="{314B4BE7-F65F-431F-BE8D-CD12EAF14DCE}" sibTransId="{36C7A361-8612-4AE6-9FFD-B9DDAB9C5001}"/>
    <dgm:cxn modelId="{B1C765C1-A72E-4B46-A122-CA0F3ED69B69}" type="presOf" srcId="{D353F114-5E88-4BDB-8836-D81C32132AF5}" destId="{F0731190-BA9D-4E18-B431-764FD60E8AD2}" srcOrd="0" destOrd="0" presId="urn:microsoft.com/office/officeart/2018/2/layout/IconCircleList"/>
    <dgm:cxn modelId="{100BDEC9-0E63-40C7-B199-2BD01D48F71A}" srcId="{A5175158-8897-4247-B10C-E14C411DB9D5}" destId="{8A5467A6-C101-40C8-BF44-E92A76C7327C}" srcOrd="1" destOrd="0" parTransId="{877FCB83-9D38-472D-998B-2C50569C8E14}" sibTransId="{44190803-E46A-41E9-9BDB-2F23F534731A}"/>
    <dgm:cxn modelId="{1B68E8D6-2B83-456E-9ED6-6EC4AFD8800A}" srcId="{A5175158-8897-4247-B10C-E14C411DB9D5}" destId="{2ABF2E01-1F2D-4498-B9F9-67E5EE1F161B}" srcOrd="4" destOrd="0" parTransId="{22D87D8D-34D9-4253-98A3-BBC5C38AAC89}" sibTransId="{2DB93CB2-ECD2-496F-9A3F-454D5A97FF70}"/>
    <dgm:cxn modelId="{074182E0-7E76-6A42-9B17-2FD21BE9427F}" type="presOf" srcId="{A5175158-8897-4247-B10C-E14C411DB9D5}" destId="{8147E572-17C2-4ADF-80F5-F781416D25D2}" srcOrd="0" destOrd="0" presId="urn:microsoft.com/office/officeart/2018/2/layout/IconCircleList"/>
    <dgm:cxn modelId="{1D3353F4-BF58-9D44-9CBA-5C21EB0751A9}" type="presOf" srcId="{C8FE6DF1-C37B-430F-B123-33CCF8015FD0}" destId="{ACC0BC38-E27F-4653-A691-BAD1F651A76F}" srcOrd="0" destOrd="0" presId="urn:microsoft.com/office/officeart/2018/2/layout/IconCircleList"/>
    <dgm:cxn modelId="{0140D320-BB43-234E-A506-6E6F217DFD7F}" type="presParOf" srcId="{8147E572-17C2-4ADF-80F5-F781416D25D2}" destId="{2A415530-5C75-40EF-8B33-9E370F073393}" srcOrd="0" destOrd="0" presId="urn:microsoft.com/office/officeart/2018/2/layout/IconCircleList"/>
    <dgm:cxn modelId="{E2A3F336-7F3D-B648-B590-B48810A3D7D4}" type="presParOf" srcId="{2A415530-5C75-40EF-8B33-9E370F073393}" destId="{26147950-EF8A-43FA-83FB-2C1F645077B3}" srcOrd="0" destOrd="0" presId="urn:microsoft.com/office/officeart/2018/2/layout/IconCircleList"/>
    <dgm:cxn modelId="{72304E75-0AAF-104A-8EF8-F5635FCA87CB}" type="presParOf" srcId="{26147950-EF8A-43FA-83FB-2C1F645077B3}" destId="{98B96BED-1365-4FD3-BF26-576E53AACB68}" srcOrd="0" destOrd="0" presId="urn:microsoft.com/office/officeart/2018/2/layout/IconCircleList"/>
    <dgm:cxn modelId="{B438775C-96D7-2F47-9733-A43A7DD0708C}" type="presParOf" srcId="{26147950-EF8A-43FA-83FB-2C1F645077B3}" destId="{A4B45326-3AED-4E97-B4E5-BC49A061A556}" srcOrd="1" destOrd="0" presId="urn:microsoft.com/office/officeart/2018/2/layout/IconCircleList"/>
    <dgm:cxn modelId="{E13C1C59-CEB3-134D-A234-42F1B3B4E55D}" type="presParOf" srcId="{26147950-EF8A-43FA-83FB-2C1F645077B3}" destId="{123F48C1-1D79-4FA4-8059-F2A6DAE6952C}" srcOrd="2" destOrd="0" presId="urn:microsoft.com/office/officeart/2018/2/layout/IconCircleList"/>
    <dgm:cxn modelId="{643D43B8-F128-B046-9934-B61206917B03}" type="presParOf" srcId="{26147950-EF8A-43FA-83FB-2C1F645077B3}" destId="{3BFF5E20-D71E-437E-B202-D9C3EC09511E}" srcOrd="3" destOrd="0" presId="urn:microsoft.com/office/officeart/2018/2/layout/IconCircleList"/>
    <dgm:cxn modelId="{8FCECB99-8440-C74F-B994-A84132BCC568}" type="presParOf" srcId="{2A415530-5C75-40EF-8B33-9E370F073393}" destId="{C29D12C1-5441-4312-9C18-5F4BD6B0DC7C}" srcOrd="1" destOrd="0" presId="urn:microsoft.com/office/officeart/2018/2/layout/IconCircleList"/>
    <dgm:cxn modelId="{F63B0A70-146F-1942-AD4D-EF7E2FFB448D}" type="presParOf" srcId="{2A415530-5C75-40EF-8B33-9E370F073393}" destId="{B57821FA-A2CA-49AF-9AFF-3D2B357947CE}" srcOrd="2" destOrd="0" presId="urn:microsoft.com/office/officeart/2018/2/layout/IconCircleList"/>
    <dgm:cxn modelId="{BA65E45D-5D2F-0944-9FCF-5697E810C1D1}" type="presParOf" srcId="{B57821FA-A2CA-49AF-9AFF-3D2B357947CE}" destId="{CD2D21FA-0797-4496-B123-6B49C48875BC}" srcOrd="0" destOrd="0" presId="urn:microsoft.com/office/officeart/2018/2/layout/IconCircleList"/>
    <dgm:cxn modelId="{30F84397-A3DB-4E4B-A261-BD047F09D97D}" type="presParOf" srcId="{B57821FA-A2CA-49AF-9AFF-3D2B357947CE}" destId="{6DCA814A-5D36-4AB0-A3E6-FAF77285B81A}" srcOrd="1" destOrd="0" presId="urn:microsoft.com/office/officeart/2018/2/layout/IconCircleList"/>
    <dgm:cxn modelId="{1D8E6119-2493-6149-A910-A841CAB1C8C2}" type="presParOf" srcId="{B57821FA-A2CA-49AF-9AFF-3D2B357947CE}" destId="{5FE10F13-62B5-4D78-9086-00E25085CCED}" srcOrd="2" destOrd="0" presId="urn:microsoft.com/office/officeart/2018/2/layout/IconCircleList"/>
    <dgm:cxn modelId="{4C127AA1-B677-F84E-AEFC-AA8CC0A4C275}" type="presParOf" srcId="{B57821FA-A2CA-49AF-9AFF-3D2B357947CE}" destId="{35AC8683-DD4F-4B4F-8351-719969C8B021}" srcOrd="3" destOrd="0" presId="urn:microsoft.com/office/officeart/2018/2/layout/IconCircleList"/>
    <dgm:cxn modelId="{793528AD-70AF-1D49-88C2-7F779F5DDE62}" type="presParOf" srcId="{2A415530-5C75-40EF-8B33-9E370F073393}" destId="{661558CB-1EF0-46B3-AB55-0077B6A29286}" srcOrd="3" destOrd="0" presId="urn:microsoft.com/office/officeart/2018/2/layout/IconCircleList"/>
    <dgm:cxn modelId="{2AA48FFC-7A03-6343-BE63-F0784C2F4511}" type="presParOf" srcId="{2A415530-5C75-40EF-8B33-9E370F073393}" destId="{1AEAF865-B5DF-4552-A0FD-3130DB0D2D7A}" srcOrd="4" destOrd="0" presId="urn:microsoft.com/office/officeart/2018/2/layout/IconCircleList"/>
    <dgm:cxn modelId="{8173B67E-2A07-E444-AC9A-F4D5EB9ADCCF}" type="presParOf" srcId="{1AEAF865-B5DF-4552-A0FD-3130DB0D2D7A}" destId="{6E3A1D43-2A41-473B-A514-F7E750CAD872}" srcOrd="0" destOrd="0" presId="urn:microsoft.com/office/officeart/2018/2/layout/IconCircleList"/>
    <dgm:cxn modelId="{88B7002C-08EC-4440-AFCB-8B016AB83340}" type="presParOf" srcId="{1AEAF865-B5DF-4552-A0FD-3130DB0D2D7A}" destId="{6D2A5294-53DE-430E-8FCA-6FC510662E68}" srcOrd="1" destOrd="0" presId="urn:microsoft.com/office/officeart/2018/2/layout/IconCircleList"/>
    <dgm:cxn modelId="{57D5463E-98BE-C84E-BA8A-6048A5C2E6C7}" type="presParOf" srcId="{1AEAF865-B5DF-4552-A0FD-3130DB0D2D7A}" destId="{F6165B48-A818-43C7-A656-9A1D12EB4C84}" srcOrd="2" destOrd="0" presId="urn:microsoft.com/office/officeart/2018/2/layout/IconCircleList"/>
    <dgm:cxn modelId="{2F87CF0A-B7F8-D044-9473-4671E8F8D4E2}" type="presParOf" srcId="{1AEAF865-B5DF-4552-A0FD-3130DB0D2D7A}" destId="{ACC0BC38-E27F-4653-A691-BAD1F651A76F}" srcOrd="3" destOrd="0" presId="urn:microsoft.com/office/officeart/2018/2/layout/IconCircleList"/>
    <dgm:cxn modelId="{25A48905-6D57-5942-92E8-35075E6F1213}" type="presParOf" srcId="{2A415530-5C75-40EF-8B33-9E370F073393}" destId="{8728F324-C5AD-46FA-9C5D-940503B8281C}" srcOrd="5" destOrd="0" presId="urn:microsoft.com/office/officeart/2018/2/layout/IconCircleList"/>
    <dgm:cxn modelId="{5CCC9651-564E-FF4E-9A60-898A052407C0}" type="presParOf" srcId="{2A415530-5C75-40EF-8B33-9E370F073393}" destId="{9A6BABA4-10E9-4C90-9F9B-C357FB327B7A}" srcOrd="6" destOrd="0" presId="urn:microsoft.com/office/officeart/2018/2/layout/IconCircleList"/>
    <dgm:cxn modelId="{8D36A43D-3A8E-7349-A71C-76A0346C905A}" type="presParOf" srcId="{9A6BABA4-10E9-4C90-9F9B-C357FB327B7A}" destId="{844D3430-18E4-4DC2-879F-BEA15021EC3C}" srcOrd="0" destOrd="0" presId="urn:microsoft.com/office/officeart/2018/2/layout/IconCircleList"/>
    <dgm:cxn modelId="{E4502B95-8110-CF4B-83FB-F9FB5C0EBF00}" type="presParOf" srcId="{9A6BABA4-10E9-4C90-9F9B-C357FB327B7A}" destId="{F648F7BB-0A65-4753-822C-EE5064FC9620}" srcOrd="1" destOrd="0" presId="urn:microsoft.com/office/officeart/2018/2/layout/IconCircleList"/>
    <dgm:cxn modelId="{A145E60F-7998-114E-994D-09C9C3E45CB4}" type="presParOf" srcId="{9A6BABA4-10E9-4C90-9F9B-C357FB327B7A}" destId="{491525A7-C2FF-460F-9635-D268D7F03A68}" srcOrd="2" destOrd="0" presId="urn:microsoft.com/office/officeart/2018/2/layout/IconCircleList"/>
    <dgm:cxn modelId="{9EAF4D9C-748D-0649-9B2C-4817A2B3B273}" type="presParOf" srcId="{9A6BABA4-10E9-4C90-9F9B-C357FB327B7A}" destId="{F0731190-BA9D-4E18-B431-764FD60E8AD2}" srcOrd="3" destOrd="0" presId="urn:microsoft.com/office/officeart/2018/2/layout/IconCircleList"/>
    <dgm:cxn modelId="{99231273-63E7-6441-9D21-FB342DDA1D2C}" type="presParOf" srcId="{2A415530-5C75-40EF-8B33-9E370F073393}" destId="{B5377D2E-91FB-4149-8951-E2AD4376F327}" srcOrd="7" destOrd="0" presId="urn:microsoft.com/office/officeart/2018/2/layout/IconCircleList"/>
    <dgm:cxn modelId="{49750A38-0934-9542-8AB3-AF4AB80C6EAD}" type="presParOf" srcId="{2A415530-5C75-40EF-8B33-9E370F073393}" destId="{B2562F42-EB80-444F-AB6A-D2DBBDB2F7A1}" srcOrd="8" destOrd="0" presId="urn:microsoft.com/office/officeart/2018/2/layout/IconCircleList"/>
    <dgm:cxn modelId="{F41CF2A3-1566-8649-8DE8-C6B4A4BE4581}" type="presParOf" srcId="{B2562F42-EB80-444F-AB6A-D2DBBDB2F7A1}" destId="{611E2D23-A817-4936-B339-6B3EC3CBA55A}" srcOrd="0" destOrd="0" presId="urn:microsoft.com/office/officeart/2018/2/layout/IconCircleList"/>
    <dgm:cxn modelId="{27FF101A-99FA-6046-826F-01364DAC8E0F}" type="presParOf" srcId="{B2562F42-EB80-444F-AB6A-D2DBBDB2F7A1}" destId="{BAA96533-6E70-46F5-8220-F9D5C042318A}" srcOrd="1" destOrd="0" presId="urn:microsoft.com/office/officeart/2018/2/layout/IconCircleList"/>
    <dgm:cxn modelId="{2CC3642B-2D5C-2440-85B2-F645933FCEEF}" type="presParOf" srcId="{B2562F42-EB80-444F-AB6A-D2DBBDB2F7A1}" destId="{7EEF6153-E637-406A-9C4D-37CB378E0913}" srcOrd="2" destOrd="0" presId="urn:microsoft.com/office/officeart/2018/2/layout/IconCircleList"/>
    <dgm:cxn modelId="{986D14F5-1B9F-9C42-80E8-F0594F4E95D8}" type="presParOf" srcId="{B2562F42-EB80-444F-AB6A-D2DBBDB2F7A1}" destId="{B9E10355-3E7C-4DE4-BA6F-2FF9E17EA40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2C8C88B-3729-4F75-8850-210FEA6A3BD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BBD765B-A5D6-488F-9C66-9D3F5391F2C2}">
      <dgm:prSet/>
      <dgm:spPr/>
      <dgm:t>
        <a:bodyPr/>
        <a:lstStyle/>
        <a:p>
          <a:r>
            <a:rPr lang="en-US" b="1" dirty="0"/>
            <a:t>Create an AI-driven Equity Research Copilot that turns a ticker + focus area</a:t>
          </a:r>
          <a:br>
            <a:rPr lang="en-US" b="1" dirty="0"/>
          </a:br>
          <a:r>
            <a:rPr lang="en-US" b="1" dirty="0"/>
            <a:t>(e.g., “AI &amp; data center”) into a draft, sell-side style equity research report in minutes.</a:t>
          </a:r>
        </a:p>
      </dgm:t>
    </dgm:pt>
    <dgm:pt modelId="{398493D9-A9FA-4512-AEB1-A6FEBB56A08E}" type="parTrans" cxnId="{0E0B5C2B-2B5C-490C-8E79-18E81DF05844}">
      <dgm:prSet/>
      <dgm:spPr/>
      <dgm:t>
        <a:bodyPr/>
        <a:lstStyle/>
        <a:p>
          <a:endParaRPr lang="en-US"/>
        </a:p>
      </dgm:t>
    </dgm:pt>
    <dgm:pt modelId="{43E9A8AF-84FF-4060-AA1D-1BAD2AE35686}" type="sibTrans" cxnId="{0E0B5C2B-2B5C-490C-8E79-18E81DF05844}">
      <dgm:prSet/>
      <dgm:spPr/>
      <dgm:t>
        <a:bodyPr/>
        <a:lstStyle/>
        <a:p>
          <a:endParaRPr lang="en-US"/>
        </a:p>
      </dgm:t>
    </dgm:pt>
    <dgm:pt modelId="{51A0A3BD-3289-46BE-A158-4C3250874A90}">
      <dgm:prSet/>
      <dgm:spPr/>
      <dgm:t>
        <a:bodyPr/>
        <a:lstStyle/>
        <a:p>
          <a:r>
            <a:rPr lang="en-US" b="1" dirty="0"/>
            <a:t>Use </a:t>
          </a:r>
          <a:r>
            <a:rPr lang="en-US" b="1" dirty="0" err="1"/>
            <a:t>GenAI</a:t>
          </a:r>
          <a:r>
            <a:rPr lang="en-US" b="1" dirty="0"/>
            <a:t> agents + live market data (</a:t>
          </a:r>
          <a:r>
            <a:rPr lang="en-US" b="1" dirty="0" err="1"/>
            <a:t>yfinance</a:t>
          </a:r>
          <a:r>
            <a:rPr lang="en-US" b="1" dirty="0"/>
            <a:t>) to auto-generate thesis, catalysts,</a:t>
          </a:r>
          <a:br>
            <a:rPr lang="en-US" b="1" dirty="0"/>
          </a:br>
          <a:r>
            <a:rPr lang="en-US" b="1" dirty="0"/>
            <a:t>financial snapshot, valuation discussion, and key risks.</a:t>
          </a:r>
        </a:p>
      </dgm:t>
    </dgm:pt>
    <dgm:pt modelId="{DE523EBD-C817-4B3F-8253-5BBF1F0DD00D}" type="parTrans" cxnId="{8A4C22B9-F415-4971-B8D0-70F133BEC007}">
      <dgm:prSet/>
      <dgm:spPr/>
      <dgm:t>
        <a:bodyPr/>
        <a:lstStyle/>
        <a:p>
          <a:endParaRPr lang="en-US"/>
        </a:p>
      </dgm:t>
    </dgm:pt>
    <dgm:pt modelId="{23C80483-C113-4264-A827-4D1839675F4B}" type="sibTrans" cxnId="{8A4C22B9-F415-4971-B8D0-70F133BEC007}">
      <dgm:prSet/>
      <dgm:spPr/>
      <dgm:t>
        <a:bodyPr/>
        <a:lstStyle/>
        <a:p>
          <a:endParaRPr lang="en-US"/>
        </a:p>
      </dgm:t>
    </dgm:pt>
    <dgm:pt modelId="{AADC2076-3E77-4274-9C2C-A59D4F3EA15C}">
      <dgm:prSet/>
      <dgm:spPr/>
      <dgm:t>
        <a:bodyPr/>
        <a:lstStyle/>
        <a:p>
          <a:r>
            <a:rPr lang="en-US" b="1" dirty="0"/>
            <a:t>Keep the human analyst in control: the system drafts; the analyst reviews, edits, and signs off.</a:t>
          </a:r>
        </a:p>
      </dgm:t>
    </dgm:pt>
    <dgm:pt modelId="{DE904717-91A1-4C62-BCFB-5DE8A1AB553F}" type="parTrans" cxnId="{C794675A-1727-4470-B663-B8842D36FF24}">
      <dgm:prSet/>
      <dgm:spPr/>
      <dgm:t>
        <a:bodyPr/>
        <a:lstStyle/>
        <a:p>
          <a:endParaRPr lang="en-US"/>
        </a:p>
      </dgm:t>
    </dgm:pt>
    <dgm:pt modelId="{118A2EDA-AD1C-48E9-8BFD-45EDCC911393}" type="sibTrans" cxnId="{C794675A-1727-4470-B663-B8842D36FF24}">
      <dgm:prSet/>
      <dgm:spPr/>
      <dgm:t>
        <a:bodyPr/>
        <a:lstStyle/>
        <a:p>
          <a:endParaRPr lang="en-US"/>
        </a:p>
      </dgm:t>
    </dgm:pt>
    <dgm:pt modelId="{4000D007-B2B2-4349-9208-80D5CD412061}" type="pres">
      <dgm:prSet presAssocID="{32C8C88B-3729-4F75-8850-210FEA6A3BD8}" presName="root" presStyleCnt="0">
        <dgm:presLayoutVars>
          <dgm:dir/>
          <dgm:resizeHandles val="exact"/>
        </dgm:presLayoutVars>
      </dgm:prSet>
      <dgm:spPr/>
    </dgm:pt>
    <dgm:pt modelId="{21EF14FA-6786-4504-85BF-B67B91AC5E80}" type="pres">
      <dgm:prSet presAssocID="{9BBD765B-A5D6-488F-9C66-9D3F5391F2C2}" presName="compNode" presStyleCnt="0"/>
      <dgm:spPr/>
    </dgm:pt>
    <dgm:pt modelId="{2AF578D5-5752-4FA8-9137-24FAC332F809}" type="pres">
      <dgm:prSet presAssocID="{9BBD765B-A5D6-488F-9C66-9D3F5391F2C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546E399B-263A-40B1-A5CF-9BFA536B64AE}" type="pres">
      <dgm:prSet presAssocID="{9BBD765B-A5D6-488F-9C66-9D3F5391F2C2}" presName="spaceRect" presStyleCnt="0"/>
      <dgm:spPr/>
    </dgm:pt>
    <dgm:pt modelId="{E303007E-1879-4EF4-A0BB-A087A3C260AD}" type="pres">
      <dgm:prSet presAssocID="{9BBD765B-A5D6-488F-9C66-9D3F5391F2C2}" presName="textRect" presStyleLbl="revTx" presStyleIdx="0" presStyleCnt="3">
        <dgm:presLayoutVars>
          <dgm:chMax val="1"/>
          <dgm:chPref val="1"/>
        </dgm:presLayoutVars>
      </dgm:prSet>
      <dgm:spPr/>
    </dgm:pt>
    <dgm:pt modelId="{5BCF9CAC-1E25-4EA1-A592-F18F39DC2C1C}" type="pres">
      <dgm:prSet presAssocID="{43E9A8AF-84FF-4060-AA1D-1BAD2AE35686}" presName="sibTrans" presStyleCnt="0"/>
      <dgm:spPr/>
    </dgm:pt>
    <dgm:pt modelId="{6C98C1E3-AF1B-4105-BFAD-1D104DD8B847}" type="pres">
      <dgm:prSet presAssocID="{51A0A3BD-3289-46BE-A158-4C3250874A90}" presName="compNode" presStyleCnt="0"/>
      <dgm:spPr/>
    </dgm:pt>
    <dgm:pt modelId="{63993CAC-B866-4C89-AB52-57C42034C6DC}" type="pres">
      <dgm:prSet presAssocID="{51A0A3BD-3289-46BE-A158-4C3250874A9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E225C290-7EFE-4BB3-B3A8-47142848188D}" type="pres">
      <dgm:prSet presAssocID="{51A0A3BD-3289-46BE-A158-4C3250874A90}" presName="spaceRect" presStyleCnt="0"/>
      <dgm:spPr/>
    </dgm:pt>
    <dgm:pt modelId="{A6657414-2220-4AF1-AA05-CA67F92D79F0}" type="pres">
      <dgm:prSet presAssocID="{51A0A3BD-3289-46BE-A158-4C3250874A90}" presName="textRect" presStyleLbl="revTx" presStyleIdx="1" presStyleCnt="3">
        <dgm:presLayoutVars>
          <dgm:chMax val="1"/>
          <dgm:chPref val="1"/>
        </dgm:presLayoutVars>
      </dgm:prSet>
      <dgm:spPr/>
    </dgm:pt>
    <dgm:pt modelId="{8FFE07AA-274C-4983-B97D-E7365BBE264C}" type="pres">
      <dgm:prSet presAssocID="{23C80483-C113-4264-A827-4D1839675F4B}" presName="sibTrans" presStyleCnt="0"/>
      <dgm:spPr/>
    </dgm:pt>
    <dgm:pt modelId="{22476D0A-5AEE-4AAB-87B8-81A718F8EA9B}" type="pres">
      <dgm:prSet presAssocID="{AADC2076-3E77-4274-9C2C-A59D4F3EA15C}" presName="compNode" presStyleCnt="0"/>
      <dgm:spPr/>
    </dgm:pt>
    <dgm:pt modelId="{3C322742-CCC3-4D9F-9C3C-5EA1361EF2B2}" type="pres">
      <dgm:prSet presAssocID="{AADC2076-3E77-4274-9C2C-A59D4F3EA15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78B4F878-1505-4DC0-99DA-45262A4F42F8}" type="pres">
      <dgm:prSet presAssocID="{AADC2076-3E77-4274-9C2C-A59D4F3EA15C}" presName="spaceRect" presStyleCnt="0"/>
      <dgm:spPr/>
    </dgm:pt>
    <dgm:pt modelId="{0D8BB42B-A35C-458E-85E2-5BCD40F0CDFD}" type="pres">
      <dgm:prSet presAssocID="{AADC2076-3E77-4274-9C2C-A59D4F3EA15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E0B5C2B-2B5C-490C-8E79-18E81DF05844}" srcId="{32C8C88B-3729-4F75-8850-210FEA6A3BD8}" destId="{9BBD765B-A5D6-488F-9C66-9D3F5391F2C2}" srcOrd="0" destOrd="0" parTransId="{398493D9-A9FA-4512-AEB1-A6FEBB56A08E}" sibTransId="{43E9A8AF-84FF-4060-AA1D-1BAD2AE35686}"/>
    <dgm:cxn modelId="{1DD4692D-0635-4B5C-B25E-87CED69CF401}" type="presOf" srcId="{51A0A3BD-3289-46BE-A158-4C3250874A90}" destId="{A6657414-2220-4AF1-AA05-CA67F92D79F0}" srcOrd="0" destOrd="0" presId="urn:microsoft.com/office/officeart/2018/2/layout/IconLabelList"/>
    <dgm:cxn modelId="{C794675A-1727-4470-B663-B8842D36FF24}" srcId="{32C8C88B-3729-4F75-8850-210FEA6A3BD8}" destId="{AADC2076-3E77-4274-9C2C-A59D4F3EA15C}" srcOrd="2" destOrd="0" parTransId="{DE904717-91A1-4C62-BCFB-5DE8A1AB553F}" sibTransId="{118A2EDA-AD1C-48E9-8BFD-45EDCC911393}"/>
    <dgm:cxn modelId="{8A4C22B9-F415-4971-B8D0-70F133BEC007}" srcId="{32C8C88B-3729-4F75-8850-210FEA6A3BD8}" destId="{51A0A3BD-3289-46BE-A158-4C3250874A90}" srcOrd="1" destOrd="0" parTransId="{DE523EBD-C817-4B3F-8253-5BBF1F0DD00D}" sibTransId="{23C80483-C113-4264-A827-4D1839675F4B}"/>
    <dgm:cxn modelId="{538F1DD0-B2C9-46D3-A318-B14B9EA16061}" type="presOf" srcId="{9BBD765B-A5D6-488F-9C66-9D3F5391F2C2}" destId="{E303007E-1879-4EF4-A0BB-A087A3C260AD}" srcOrd="0" destOrd="0" presId="urn:microsoft.com/office/officeart/2018/2/layout/IconLabelList"/>
    <dgm:cxn modelId="{6E8229D6-07E9-4ACA-ABBC-FC73DDB4B71B}" type="presOf" srcId="{AADC2076-3E77-4274-9C2C-A59D4F3EA15C}" destId="{0D8BB42B-A35C-458E-85E2-5BCD40F0CDFD}" srcOrd="0" destOrd="0" presId="urn:microsoft.com/office/officeart/2018/2/layout/IconLabelList"/>
    <dgm:cxn modelId="{FBCF7DDC-47FF-4EFD-8DF7-CBC648D8378B}" type="presOf" srcId="{32C8C88B-3729-4F75-8850-210FEA6A3BD8}" destId="{4000D007-B2B2-4349-9208-80D5CD412061}" srcOrd="0" destOrd="0" presId="urn:microsoft.com/office/officeart/2018/2/layout/IconLabelList"/>
    <dgm:cxn modelId="{72E0E9C0-007F-4C45-A34E-3911A18A166D}" type="presParOf" srcId="{4000D007-B2B2-4349-9208-80D5CD412061}" destId="{21EF14FA-6786-4504-85BF-B67B91AC5E80}" srcOrd="0" destOrd="0" presId="urn:microsoft.com/office/officeart/2018/2/layout/IconLabelList"/>
    <dgm:cxn modelId="{DBE21E7B-1FF2-4CF3-9176-02DCA33ECC77}" type="presParOf" srcId="{21EF14FA-6786-4504-85BF-B67B91AC5E80}" destId="{2AF578D5-5752-4FA8-9137-24FAC332F809}" srcOrd="0" destOrd="0" presId="urn:microsoft.com/office/officeart/2018/2/layout/IconLabelList"/>
    <dgm:cxn modelId="{2F9DA20D-D6E2-46C6-A661-6B4FFD0C763C}" type="presParOf" srcId="{21EF14FA-6786-4504-85BF-B67B91AC5E80}" destId="{546E399B-263A-40B1-A5CF-9BFA536B64AE}" srcOrd="1" destOrd="0" presId="urn:microsoft.com/office/officeart/2018/2/layout/IconLabelList"/>
    <dgm:cxn modelId="{735CFA67-8128-4EE5-8647-DF955340E95B}" type="presParOf" srcId="{21EF14FA-6786-4504-85BF-B67B91AC5E80}" destId="{E303007E-1879-4EF4-A0BB-A087A3C260AD}" srcOrd="2" destOrd="0" presId="urn:microsoft.com/office/officeart/2018/2/layout/IconLabelList"/>
    <dgm:cxn modelId="{A6449AA4-66BC-4B53-9245-100176515486}" type="presParOf" srcId="{4000D007-B2B2-4349-9208-80D5CD412061}" destId="{5BCF9CAC-1E25-4EA1-A592-F18F39DC2C1C}" srcOrd="1" destOrd="0" presId="urn:microsoft.com/office/officeart/2018/2/layout/IconLabelList"/>
    <dgm:cxn modelId="{6FE409A2-4543-41B7-8D5A-21148312DD5F}" type="presParOf" srcId="{4000D007-B2B2-4349-9208-80D5CD412061}" destId="{6C98C1E3-AF1B-4105-BFAD-1D104DD8B847}" srcOrd="2" destOrd="0" presId="urn:microsoft.com/office/officeart/2018/2/layout/IconLabelList"/>
    <dgm:cxn modelId="{BEAB6320-4DCC-40B1-A590-3D5DFFDEE9B8}" type="presParOf" srcId="{6C98C1E3-AF1B-4105-BFAD-1D104DD8B847}" destId="{63993CAC-B866-4C89-AB52-57C42034C6DC}" srcOrd="0" destOrd="0" presId="urn:microsoft.com/office/officeart/2018/2/layout/IconLabelList"/>
    <dgm:cxn modelId="{2632B27F-FE58-4D44-BCAF-DEAFDACCC31E}" type="presParOf" srcId="{6C98C1E3-AF1B-4105-BFAD-1D104DD8B847}" destId="{E225C290-7EFE-4BB3-B3A8-47142848188D}" srcOrd="1" destOrd="0" presId="urn:microsoft.com/office/officeart/2018/2/layout/IconLabelList"/>
    <dgm:cxn modelId="{C1541359-D97E-4C5A-B322-DFBC489ED434}" type="presParOf" srcId="{6C98C1E3-AF1B-4105-BFAD-1D104DD8B847}" destId="{A6657414-2220-4AF1-AA05-CA67F92D79F0}" srcOrd="2" destOrd="0" presId="urn:microsoft.com/office/officeart/2018/2/layout/IconLabelList"/>
    <dgm:cxn modelId="{300246A3-F336-4EEE-B87B-E16C77E85563}" type="presParOf" srcId="{4000D007-B2B2-4349-9208-80D5CD412061}" destId="{8FFE07AA-274C-4983-B97D-E7365BBE264C}" srcOrd="3" destOrd="0" presId="urn:microsoft.com/office/officeart/2018/2/layout/IconLabelList"/>
    <dgm:cxn modelId="{0D7E48F9-EBDE-4DE8-9813-9DCB8ED6D167}" type="presParOf" srcId="{4000D007-B2B2-4349-9208-80D5CD412061}" destId="{22476D0A-5AEE-4AAB-87B8-81A718F8EA9B}" srcOrd="4" destOrd="0" presId="urn:microsoft.com/office/officeart/2018/2/layout/IconLabelList"/>
    <dgm:cxn modelId="{4988DDFA-5ABF-44D2-83CC-8C35BEA51A13}" type="presParOf" srcId="{22476D0A-5AEE-4AAB-87B8-81A718F8EA9B}" destId="{3C322742-CCC3-4D9F-9C3C-5EA1361EF2B2}" srcOrd="0" destOrd="0" presId="urn:microsoft.com/office/officeart/2018/2/layout/IconLabelList"/>
    <dgm:cxn modelId="{D72FDBFC-1BC4-4479-915A-EA0E5640E360}" type="presParOf" srcId="{22476D0A-5AEE-4AAB-87B8-81A718F8EA9B}" destId="{78B4F878-1505-4DC0-99DA-45262A4F42F8}" srcOrd="1" destOrd="0" presId="urn:microsoft.com/office/officeart/2018/2/layout/IconLabelList"/>
    <dgm:cxn modelId="{E5306A10-C078-4DBC-BD90-F8C3C1FC690F}" type="presParOf" srcId="{22476D0A-5AEE-4AAB-87B8-81A718F8EA9B}" destId="{0D8BB42B-A35C-458E-85E2-5BCD40F0CDF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8115158-3A23-42AB-AD34-F2130E7719C8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8D071D-81C9-448A-BE64-BC1D3842DBE9}">
      <dgm:prSet/>
      <dgm:spPr/>
      <dgm:t>
        <a:bodyPr/>
        <a:lstStyle/>
        <a:p>
          <a:r>
            <a:rPr lang="en-US" b="1"/>
            <a:t>1. Information Gathering</a:t>
          </a:r>
          <a:endParaRPr lang="en-US"/>
        </a:p>
      </dgm:t>
    </dgm:pt>
    <dgm:pt modelId="{4C84F7FD-214B-49F5-BB84-AFE7AA29029B}" type="parTrans" cxnId="{3CEF3784-68F1-4399-9581-BDA26F676CF1}">
      <dgm:prSet/>
      <dgm:spPr/>
      <dgm:t>
        <a:bodyPr/>
        <a:lstStyle/>
        <a:p>
          <a:endParaRPr lang="en-US"/>
        </a:p>
      </dgm:t>
    </dgm:pt>
    <dgm:pt modelId="{DF28B84D-91A0-477A-9348-6C92B433756B}" type="sibTrans" cxnId="{3CEF3784-68F1-4399-9581-BDA26F676CF1}">
      <dgm:prSet/>
      <dgm:spPr/>
      <dgm:t>
        <a:bodyPr/>
        <a:lstStyle/>
        <a:p>
          <a:endParaRPr lang="en-US"/>
        </a:p>
      </dgm:t>
    </dgm:pt>
    <dgm:pt modelId="{98D65647-02B2-49C8-91B0-DA1D00704D6E}">
      <dgm:prSet/>
      <dgm:spPr/>
      <dgm:t>
        <a:bodyPr/>
        <a:lstStyle/>
        <a:p>
          <a:r>
            <a:rPr lang="en-US" b="1" dirty="0" err="1"/>
            <a:t>DataAgent</a:t>
          </a:r>
          <a:r>
            <a:rPr lang="en-US" b="1" dirty="0"/>
            <a:t>:</a:t>
          </a:r>
          <a:r>
            <a:rPr lang="en-US" dirty="0"/>
            <a:t> pulls company and industry data.</a:t>
          </a:r>
        </a:p>
      </dgm:t>
    </dgm:pt>
    <dgm:pt modelId="{2EC2F788-AEA0-465E-9C7A-8461BEE83A08}" type="parTrans" cxnId="{0A09391F-655D-4619-BC9B-09829963171C}">
      <dgm:prSet/>
      <dgm:spPr/>
      <dgm:t>
        <a:bodyPr/>
        <a:lstStyle/>
        <a:p>
          <a:endParaRPr lang="en-US"/>
        </a:p>
      </dgm:t>
    </dgm:pt>
    <dgm:pt modelId="{C8D6FFE8-D192-45AE-8C75-4E66487A4746}" type="sibTrans" cxnId="{0A09391F-655D-4619-BC9B-09829963171C}">
      <dgm:prSet/>
      <dgm:spPr/>
      <dgm:t>
        <a:bodyPr/>
        <a:lstStyle/>
        <a:p>
          <a:endParaRPr lang="en-US"/>
        </a:p>
      </dgm:t>
    </dgm:pt>
    <dgm:pt modelId="{8BF244BA-B4ED-4B88-9CE9-364F709592A1}">
      <dgm:prSet custT="1"/>
      <dgm:spPr/>
      <dgm:t>
        <a:bodyPr/>
        <a:lstStyle/>
        <a:p>
          <a:r>
            <a:rPr lang="en-US" sz="1200" b="1" dirty="0" err="1"/>
            <a:t>FinancialDataAgent</a:t>
          </a:r>
          <a:r>
            <a:rPr lang="en-US" sz="1050" b="1" dirty="0"/>
            <a:t>:</a:t>
          </a:r>
          <a:r>
            <a:rPr lang="en-US" sz="1050" dirty="0"/>
            <a:t> fetches </a:t>
          </a:r>
          <a:r>
            <a:rPr lang="en-US" sz="1050" b="0" dirty="0"/>
            <a:t>live market and financial data (price, market cap, </a:t>
          </a:r>
          <a:endParaRPr lang="en-US" sz="1200" b="0" dirty="0"/>
        </a:p>
      </dgm:t>
    </dgm:pt>
    <dgm:pt modelId="{97BE8F1A-2D9C-48DB-AC1B-A9149BC61F4B}" type="parTrans" cxnId="{635D82A4-DE44-4B7A-A2E5-164BD72CAC1F}">
      <dgm:prSet/>
      <dgm:spPr/>
      <dgm:t>
        <a:bodyPr/>
        <a:lstStyle/>
        <a:p>
          <a:endParaRPr lang="en-US"/>
        </a:p>
      </dgm:t>
    </dgm:pt>
    <dgm:pt modelId="{7AFB36D5-1DDD-487C-9B90-C6420A8E1021}" type="sibTrans" cxnId="{635D82A4-DE44-4B7A-A2E5-164BD72CAC1F}">
      <dgm:prSet/>
      <dgm:spPr/>
      <dgm:t>
        <a:bodyPr/>
        <a:lstStyle/>
        <a:p>
          <a:endParaRPr lang="en-US"/>
        </a:p>
      </dgm:t>
    </dgm:pt>
    <dgm:pt modelId="{A5BE1BB9-119B-410D-8593-80BF144DF3CF}">
      <dgm:prSet custT="1"/>
      <dgm:spPr/>
      <dgm:t>
        <a:bodyPr/>
        <a:lstStyle/>
        <a:p>
          <a:r>
            <a:rPr lang="en-US" sz="1050" b="1" dirty="0" err="1"/>
            <a:t>MarketTrendsAgent</a:t>
          </a:r>
          <a:r>
            <a:rPr lang="en-US" sz="1050" b="1" dirty="0"/>
            <a:t>:</a:t>
          </a:r>
          <a:r>
            <a:rPr lang="en-US" sz="1050" dirty="0"/>
            <a:t> </a:t>
          </a:r>
          <a:r>
            <a:rPr lang="en-US" sz="1050" b="0" dirty="0"/>
            <a:t>summarizes analyst-commentary and sector trends relevant to the ticker and focus </a:t>
          </a:r>
          <a:r>
            <a:rPr lang="en-US" sz="1200" b="0" dirty="0"/>
            <a:t>area.</a:t>
          </a:r>
        </a:p>
      </dgm:t>
    </dgm:pt>
    <dgm:pt modelId="{D88A501A-4EC4-43F1-A35B-0500B8E73A1E}" type="parTrans" cxnId="{5BA5F6E1-3AF0-44BA-ADC5-D01EA6B2B3E7}">
      <dgm:prSet/>
      <dgm:spPr/>
      <dgm:t>
        <a:bodyPr/>
        <a:lstStyle/>
        <a:p>
          <a:endParaRPr lang="en-US"/>
        </a:p>
      </dgm:t>
    </dgm:pt>
    <dgm:pt modelId="{2B699B9B-06FB-4E38-B3EF-4EDF82A6B7D2}" type="sibTrans" cxnId="{5BA5F6E1-3AF0-44BA-ADC5-D01EA6B2B3E7}">
      <dgm:prSet/>
      <dgm:spPr/>
      <dgm:t>
        <a:bodyPr/>
        <a:lstStyle/>
        <a:p>
          <a:endParaRPr lang="en-US"/>
        </a:p>
      </dgm:t>
    </dgm:pt>
    <dgm:pt modelId="{4F9A1EE9-DA10-4146-B940-00F47A1A0F16}">
      <dgm:prSet/>
      <dgm:spPr/>
      <dgm:t>
        <a:bodyPr/>
        <a:lstStyle/>
        <a:p>
          <a:r>
            <a:rPr lang="en-US" b="1"/>
            <a:t>2. Analysis &amp; Valuation</a:t>
          </a:r>
          <a:endParaRPr lang="en-US"/>
        </a:p>
      </dgm:t>
    </dgm:pt>
    <dgm:pt modelId="{AB0D177D-0860-4B6B-AD52-6B79E3687AC1}" type="parTrans" cxnId="{690DC175-552E-4858-9EDC-A9F93F6B7D7C}">
      <dgm:prSet/>
      <dgm:spPr/>
      <dgm:t>
        <a:bodyPr/>
        <a:lstStyle/>
        <a:p>
          <a:endParaRPr lang="en-US"/>
        </a:p>
      </dgm:t>
    </dgm:pt>
    <dgm:pt modelId="{D96A73F4-2D62-4CEF-ADAC-8CF2CB25F84B}" type="sibTrans" cxnId="{690DC175-552E-4858-9EDC-A9F93F6B7D7C}">
      <dgm:prSet/>
      <dgm:spPr/>
      <dgm:t>
        <a:bodyPr/>
        <a:lstStyle/>
        <a:p>
          <a:endParaRPr lang="en-US"/>
        </a:p>
      </dgm:t>
    </dgm:pt>
    <dgm:pt modelId="{9B5A6DDE-2F90-463A-A6D0-B61811288069}">
      <dgm:prSet custT="1"/>
      <dgm:spPr/>
      <dgm:t>
        <a:bodyPr/>
        <a:lstStyle/>
        <a:p>
          <a:r>
            <a:rPr lang="en-US" sz="1200" b="1" dirty="0" err="1"/>
            <a:t>AnalystAgent</a:t>
          </a:r>
          <a:r>
            <a:rPr lang="en-US" sz="1200" b="1" dirty="0"/>
            <a:t>:</a:t>
          </a:r>
          <a:r>
            <a:rPr lang="en-US" sz="1200" dirty="0"/>
            <a:t> </a:t>
          </a:r>
          <a:r>
            <a:rPr lang="en-US" sz="1050" b="0" dirty="0"/>
            <a:t>behaves like a junior analyst – combines the context, numbers, and trends into an integrated view</a:t>
          </a:r>
          <a:endParaRPr lang="en-US" sz="1200" b="0" dirty="0"/>
        </a:p>
      </dgm:t>
    </dgm:pt>
    <dgm:pt modelId="{5807E8B2-74B0-4F7D-A200-E0DFA2E37AC1}" type="parTrans" cxnId="{A4824B10-EBBD-4777-84F0-C7B584C3FB7C}">
      <dgm:prSet/>
      <dgm:spPr/>
      <dgm:t>
        <a:bodyPr/>
        <a:lstStyle/>
        <a:p>
          <a:endParaRPr lang="en-US"/>
        </a:p>
      </dgm:t>
    </dgm:pt>
    <dgm:pt modelId="{367D8C96-4C0B-4F41-9DBC-6ED88050D1DC}" type="sibTrans" cxnId="{A4824B10-EBBD-4777-84F0-C7B584C3FB7C}">
      <dgm:prSet/>
      <dgm:spPr/>
      <dgm:t>
        <a:bodyPr/>
        <a:lstStyle/>
        <a:p>
          <a:endParaRPr lang="en-US"/>
        </a:p>
      </dgm:t>
    </dgm:pt>
    <dgm:pt modelId="{2EDF938E-B30C-4D04-BE7B-7923713AC217}">
      <dgm:prSet custT="1"/>
      <dgm:spPr/>
      <dgm:t>
        <a:bodyPr/>
        <a:lstStyle/>
        <a:p>
          <a:r>
            <a:rPr lang="en-US" sz="1200" b="1" dirty="0" err="1"/>
            <a:t>ValuationAgent</a:t>
          </a:r>
          <a:r>
            <a:rPr lang="en-US" sz="1200" b="1" dirty="0"/>
            <a:t>:</a:t>
          </a:r>
          <a:r>
            <a:rPr lang="en-US" sz="1200" dirty="0"/>
            <a:t> </a:t>
          </a:r>
          <a:r>
            <a:rPr lang="en-US" sz="1100" dirty="0"/>
            <a:t>interprets valuation using the metrics (multiples, growth, profitability) and the focus area.</a:t>
          </a:r>
          <a:endParaRPr lang="en-US" sz="1200" dirty="0"/>
        </a:p>
      </dgm:t>
    </dgm:pt>
    <dgm:pt modelId="{6CCA9D02-8D0C-42D1-A5AA-C9A03BA9B3E5}" type="parTrans" cxnId="{78DC3853-152C-445F-810E-06C92D0F0AB5}">
      <dgm:prSet/>
      <dgm:spPr/>
      <dgm:t>
        <a:bodyPr/>
        <a:lstStyle/>
        <a:p>
          <a:endParaRPr lang="en-US"/>
        </a:p>
      </dgm:t>
    </dgm:pt>
    <dgm:pt modelId="{AAD09E29-48F1-438B-BA71-61D1F111AF31}" type="sibTrans" cxnId="{78DC3853-152C-445F-810E-06C92D0F0AB5}">
      <dgm:prSet/>
      <dgm:spPr/>
      <dgm:t>
        <a:bodyPr/>
        <a:lstStyle/>
        <a:p>
          <a:endParaRPr lang="en-US"/>
        </a:p>
      </dgm:t>
    </dgm:pt>
    <dgm:pt modelId="{FB8B5A4C-3E1A-40F3-A67C-12A9E1E46DE9}">
      <dgm:prSet/>
      <dgm:spPr/>
      <dgm:t>
        <a:bodyPr/>
        <a:lstStyle/>
        <a:p>
          <a:r>
            <a:rPr lang="en-US" b="1"/>
            <a:t>3. Risk &amp; Communication</a:t>
          </a:r>
          <a:endParaRPr lang="en-US"/>
        </a:p>
      </dgm:t>
    </dgm:pt>
    <dgm:pt modelId="{90634697-8D5E-45A7-B1BD-C3D2D8B09C8E}" type="parTrans" cxnId="{9ED7CF30-E118-4595-9A27-ABCA5725C0CF}">
      <dgm:prSet/>
      <dgm:spPr/>
      <dgm:t>
        <a:bodyPr/>
        <a:lstStyle/>
        <a:p>
          <a:endParaRPr lang="en-US"/>
        </a:p>
      </dgm:t>
    </dgm:pt>
    <dgm:pt modelId="{01491606-3099-4552-95A1-A324A180B5E6}" type="sibTrans" cxnId="{9ED7CF30-E118-4595-9A27-ABCA5725C0CF}">
      <dgm:prSet/>
      <dgm:spPr/>
      <dgm:t>
        <a:bodyPr/>
        <a:lstStyle/>
        <a:p>
          <a:endParaRPr lang="en-US"/>
        </a:p>
      </dgm:t>
    </dgm:pt>
    <dgm:pt modelId="{C1BCBA44-2E6B-4D23-B887-8D2E4CFC0C3C}">
      <dgm:prSet custT="1"/>
      <dgm:spPr/>
      <dgm:t>
        <a:bodyPr/>
        <a:lstStyle/>
        <a:p>
          <a:r>
            <a:rPr lang="en-US" sz="1200" b="1" dirty="0" err="1"/>
            <a:t>RiskReviewerAgent</a:t>
          </a:r>
          <a:r>
            <a:rPr lang="en-US" sz="1200" b="1" dirty="0"/>
            <a:t>:</a:t>
          </a:r>
          <a:r>
            <a:rPr lang="en-US" sz="1200" dirty="0"/>
            <a:t> </a:t>
          </a:r>
          <a:r>
            <a:rPr lang="en-US" sz="1100" b="0" dirty="0"/>
            <a:t>does a second pass to highlight regulatory, competitive, and macro risks.</a:t>
          </a:r>
          <a:endParaRPr lang="en-US" sz="1200" b="0" dirty="0"/>
        </a:p>
      </dgm:t>
    </dgm:pt>
    <dgm:pt modelId="{851DD811-AE13-4153-A5E5-839ABCA36855}" type="parTrans" cxnId="{4732A3B9-7F4F-4880-A131-219A74547C2D}">
      <dgm:prSet/>
      <dgm:spPr/>
      <dgm:t>
        <a:bodyPr/>
        <a:lstStyle/>
        <a:p>
          <a:endParaRPr lang="en-US"/>
        </a:p>
      </dgm:t>
    </dgm:pt>
    <dgm:pt modelId="{0282C908-4816-4AFF-B303-F83237D443DA}" type="sibTrans" cxnId="{4732A3B9-7F4F-4880-A131-219A74547C2D}">
      <dgm:prSet/>
      <dgm:spPr/>
      <dgm:t>
        <a:bodyPr/>
        <a:lstStyle/>
        <a:p>
          <a:endParaRPr lang="en-US"/>
        </a:p>
      </dgm:t>
    </dgm:pt>
    <dgm:pt modelId="{8A40B6D9-6E22-4AB5-A00B-4C9545244263}">
      <dgm:prSet custT="1"/>
      <dgm:spPr/>
      <dgm:t>
        <a:bodyPr/>
        <a:lstStyle/>
        <a:p>
          <a:r>
            <a:rPr lang="en-US" sz="1200" b="1" dirty="0" err="1"/>
            <a:t>WriterAgent</a:t>
          </a:r>
          <a:r>
            <a:rPr lang="en-US" sz="1200" b="1" dirty="0"/>
            <a:t>:</a:t>
          </a:r>
          <a:r>
            <a:rPr lang="en-US" sz="1200" dirty="0"/>
            <a:t> </a:t>
          </a:r>
          <a:r>
            <a:rPr lang="en-US" sz="1100" b="0" dirty="0"/>
            <a:t>turns all of this into a sell-side style report with our standard structure.</a:t>
          </a:r>
          <a:endParaRPr lang="en-US" sz="1200" b="0" dirty="0"/>
        </a:p>
      </dgm:t>
    </dgm:pt>
    <dgm:pt modelId="{556BDD25-B598-480B-8B6B-703530217163}" type="parTrans" cxnId="{78367F12-277F-46DC-B753-2D1BFE304959}">
      <dgm:prSet/>
      <dgm:spPr/>
      <dgm:t>
        <a:bodyPr/>
        <a:lstStyle/>
        <a:p>
          <a:endParaRPr lang="en-US"/>
        </a:p>
      </dgm:t>
    </dgm:pt>
    <dgm:pt modelId="{15CA0DFD-6444-4D8E-83EF-383E3A946BB8}" type="sibTrans" cxnId="{78367F12-277F-46DC-B753-2D1BFE304959}">
      <dgm:prSet/>
      <dgm:spPr/>
      <dgm:t>
        <a:bodyPr/>
        <a:lstStyle/>
        <a:p>
          <a:endParaRPr lang="en-US"/>
        </a:p>
      </dgm:t>
    </dgm:pt>
    <dgm:pt modelId="{1605A4C5-9846-4EA6-B759-5E4E399CA015}">
      <dgm:prSet/>
      <dgm:spPr/>
      <dgm:t>
        <a:bodyPr/>
        <a:lstStyle/>
        <a:p>
          <a:r>
            <a:rPr lang="en-US" b="1"/>
            <a:t>ReflectionAgent:</a:t>
          </a:r>
          <a:r>
            <a:rPr lang="en-US"/>
            <a:t> lightly edits for clarity, consistency, and professional tone.</a:t>
          </a:r>
        </a:p>
      </dgm:t>
    </dgm:pt>
    <dgm:pt modelId="{07F56896-5C0E-4259-9F8D-BA6A4B0697A7}" type="parTrans" cxnId="{51982867-15C5-4BBC-92E1-E59CE7553523}">
      <dgm:prSet/>
      <dgm:spPr/>
      <dgm:t>
        <a:bodyPr/>
        <a:lstStyle/>
        <a:p>
          <a:endParaRPr lang="en-US"/>
        </a:p>
      </dgm:t>
    </dgm:pt>
    <dgm:pt modelId="{8ECF4C77-2634-4719-A3CD-4687733AA99B}" type="sibTrans" cxnId="{51982867-15C5-4BBC-92E1-E59CE7553523}">
      <dgm:prSet/>
      <dgm:spPr/>
      <dgm:t>
        <a:bodyPr/>
        <a:lstStyle/>
        <a:p>
          <a:endParaRPr lang="en-US"/>
        </a:p>
      </dgm:t>
    </dgm:pt>
    <dgm:pt modelId="{AD885AEA-C313-904C-B4BB-1D425E5E70EE}" type="pres">
      <dgm:prSet presAssocID="{58115158-3A23-42AB-AD34-F2130E7719C8}" presName="Name0" presStyleCnt="0">
        <dgm:presLayoutVars>
          <dgm:dir/>
          <dgm:resizeHandles val="exact"/>
        </dgm:presLayoutVars>
      </dgm:prSet>
      <dgm:spPr/>
    </dgm:pt>
    <dgm:pt modelId="{D0F388DA-88C3-7949-B1D8-82059C5D70D8}" type="pres">
      <dgm:prSet presAssocID="{B48D071D-81C9-448A-BE64-BC1D3842DBE9}" presName="node" presStyleLbl="node1" presStyleIdx="0" presStyleCnt="11">
        <dgm:presLayoutVars>
          <dgm:bulletEnabled val="1"/>
        </dgm:presLayoutVars>
      </dgm:prSet>
      <dgm:spPr/>
    </dgm:pt>
    <dgm:pt modelId="{45370543-5681-1949-A181-B1A6F117A203}" type="pres">
      <dgm:prSet presAssocID="{DF28B84D-91A0-477A-9348-6C92B433756B}" presName="sibTrans" presStyleLbl="sibTrans1D1" presStyleIdx="0" presStyleCnt="10"/>
      <dgm:spPr/>
    </dgm:pt>
    <dgm:pt modelId="{C9C00826-76B6-5D4D-97CC-FB36E568C00B}" type="pres">
      <dgm:prSet presAssocID="{DF28B84D-91A0-477A-9348-6C92B433756B}" presName="connectorText" presStyleLbl="sibTrans1D1" presStyleIdx="0" presStyleCnt="10"/>
      <dgm:spPr/>
    </dgm:pt>
    <dgm:pt modelId="{91895BAB-5FD8-874B-AC43-BE7518819C3B}" type="pres">
      <dgm:prSet presAssocID="{98D65647-02B2-49C8-91B0-DA1D00704D6E}" presName="node" presStyleLbl="node1" presStyleIdx="1" presStyleCnt="11">
        <dgm:presLayoutVars>
          <dgm:bulletEnabled val="1"/>
        </dgm:presLayoutVars>
      </dgm:prSet>
      <dgm:spPr/>
    </dgm:pt>
    <dgm:pt modelId="{1298CA7D-9397-F046-8FBA-9B43034A2136}" type="pres">
      <dgm:prSet presAssocID="{C8D6FFE8-D192-45AE-8C75-4E66487A4746}" presName="sibTrans" presStyleLbl="sibTrans1D1" presStyleIdx="1" presStyleCnt="10"/>
      <dgm:spPr/>
    </dgm:pt>
    <dgm:pt modelId="{63651412-98B3-9745-88A1-57637D4404A3}" type="pres">
      <dgm:prSet presAssocID="{C8D6FFE8-D192-45AE-8C75-4E66487A4746}" presName="connectorText" presStyleLbl="sibTrans1D1" presStyleIdx="1" presStyleCnt="10"/>
      <dgm:spPr/>
    </dgm:pt>
    <dgm:pt modelId="{5CD865DE-50FB-8F4D-A4C2-B5756A46DA1E}" type="pres">
      <dgm:prSet presAssocID="{8BF244BA-B4ED-4B88-9CE9-364F709592A1}" presName="node" presStyleLbl="node1" presStyleIdx="2" presStyleCnt="11" custScaleX="117021">
        <dgm:presLayoutVars>
          <dgm:bulletEnabled val="1"/>
        </dgm:presLayoutVars>
      </dgm:prSet>
      <dgm:spPr/>
    </dgm:pt>
    <dgm:pt modelId="{B9053BAD-0B03-0F4D-9C8F-CF92A4FC931C}" type="pres">
      <dgm:prSet presAssocID="{7AFB36D5-1DDD-487C-9B90-C6420A8E1021}" presName="sibTrans" presStyleLbl="sibTrans1D1" presStyleIdx="2" presStyleCnt="10"/>
      <dgm:spPr/>
    </dgm:pt>
    <dgm:pt modelId="{0213CEDA-F1CF-5F47-99A2-527B9AD26506}" type="pres">
      <dgm:prSet presAssocID="{7AFB36D5-1DDD-487C-9B90-C6420A8E1021}" presName="connectorText" presStyleLbl="sibTrans1D1" presStyleIdx="2" presStyleCnt="10"/>
      <dgm:spPr/>
    </dgm:pt>
    <dgm:pt modelId="{DD056A0D-DF10-3842-9D0A-191458964E1E}" type="pres">
      <dgm:prSet presAssocID="{A5BE1BB9-119B-410D-8593-80BF144DF3CF}" presName="node" presStyleLbl="node1" presStyleIdx="3" presStyleCnt="11">
        <dgm:presLayoutVars>
          <dgm:bulletEnabled val="1"/>
        </dgm:presLayoutVars>
      </dgm:prSet>
      <dgm:spPr/>
    </dgm:pt>
    <dgm:pt modelId="{B99CFE5C-D481-1A44-8CB3-E2E52C02D634}" type="pres">
      <dgm:prSet presAssocID="{2B699B9B-06FB-4E38-B3EF-4EDF82A6B7D2}" presName="sibTrans" presStyleLbl="sibTrans1D1" presStyleIdx="3" presStyleCnt="10"/>
      <dgm:spPr/>
    </dgm:pt>
    <dgm:pt modelId="{C36133E8-CE0C-F440-A27E-0205C213AE38}" type="pres">
      <dgm:prSet presAssocID="{2B699B9B-06FB-4E38-B3EF-4EDF82A6B7D2}" presName="connectorText" presStyleLbl="sibTrans1D1" presStyleIdx="3" presStyleCnt="10"/>
      <dgm:spPr/>
    </dgm:pt>
    <dgm:pt modelId="{EE0CBE46-917B-694F-B134-09D3A95B96FC}" type="pres">
      <dgm:prSet presAssocID="{4F9A1EE9-DA10-4146-B940-00F47A1A0F16}" presName="node" presStyleLbl="node1" presStyleIdx="4" presStyleCnt="11">
        <dgm:presLayoutVars>
          <dgm:bulletEnabled val="1"/>
        </dgm:presLayoutVars>
      </dgm:prSet>
      <dgm:spPr/>
    </dgm:pt>
    <dgm:pt modelId="{35CA3D0B-908B-8549-B590-F1957C0FEFEB}" type="pres">
      <dgm:prSet presAssocID="{D96A73F4-2D62-4CEF-ADAC-8CF2CB25F84B}" presName="sibTrans" presStyleLbl="sibTrans1D1" presStyleIdx="4" presStyleCnt="10"/>
      <dgm:spPr/>
    </dgm:pt>
    <dgm:pt modelId="{CAA0B343-61A2-DD4F-A08F-A2414073589D}" type="pres">
      <dgm:prSet presAssocID="{D96A73F4-2D62-4CEF-ADAC-8CF2CB25F84B}" presName="connectorText" presStyleLbl="sibTrans1D1" presStyleIdx="4" presStyleCnt="10"/>
      <dgm:spPr/>
    </dgm:pt>
    <dgm:pt modelId="{D8C870AD-B6AB-2648-8DC6-869F0FEF3590}" type="pres">
      <dgm:prSet presAssocID="{9B5A6DDE-2F90-463A-A6D0-B61811288069}" presName="node" presStyleLbl="node1" presStyleIdx="5" presStyleCnt="11" custScaleX="109332" custScaleY="118589">
        <dgm:presLayoutVars>
          <dgm:bulletEnabled val="1"/>
        </dgm:presLayoutVars>
      </dgm:prSet>
      <dgm:spPr/>
    </dgm:pt>
    <dgm:pt modelId="{D3896D49-EAB4-4640-99B8-32BB2D2A4962}" type="pres">
      <dgm:prSet presAssocID="{367D8C96-4C0B-4F41-9DBC-6ED88050D1DC}" presName="sibTrans" presStyleLbl="sibTrans1D1" presStyleIdx="5" presStyleCnt="10"/>
      <dgm:spPr/>
    </dgm:pt>
    <dgm:pt modelId="{D84C3BA2-CD61-DF4D-A489-D5BCB3F764CF}" type="pres">
      <dgm:prSet presAssocID="{367D8C96-4C0B-4F41-9DBC-6ED88050D1DC}" presName="connectorText" presStyleLbl="sibTrans1D1" presStyleIdx="5" presStyleCnt="10"/>
      <dgm:spPr/>
    </dgm:pt>
    <dgm:pt modelId="{6C58FBE4-2C97-984E-9147-A711F2CE75E9}" type="pres">
      <dgm:prSet presAssocID="{2EDF938E-B30C-4D04-BE7B-7923713AC217}" presName="node" presStyleLbl="node1" presStyleIdx="6" presStyleCnt="11">
        <dgm:presLayoutVars>
          <dgm:bulletEnabled val="1"/>
        </dgm:presLayoutVars>
      </dgm:prSet>
      <dgm:spPr/>
    </dgm:pt>
    <dgm:pt modelId="{54ECF201-035F-C24F-A10F-64E4642B816E}" type="pres">
      <dgm:prSet presAssocID="{AAD09E29-48F1-438B-BA71-61D1F111AF31}" presName="sibTrans" presStyleLbl="sibTrans1D1" presStyleIdx="6" presStyleCnt="10"/>
      <dgm:spPr/>
    </dgm:pt>
    <dgm:pt modelId="{175CBBA9-88A4-DB48-9F85-BD5C1D6D8673}" type="pres">
      <dgm:prSet presAssocID="{AAD09E29-48F1-438B-BA71-61D1F111AF31}" presName="connectorText" presStyleLbl="sibTrans1D1" presStyleIdx="6" presStyleCnt="10"/>
      <dgm:spPr/>
    </dgm:pt>
    <dgm:pt modelId="{2DB115F6-21CF-424D-B29A-C7C5A7256202}" type="pres">
      <dgm:prSet presAssocID="{FB8B5A4C-3E1A-40F3-A67C-12A9E1E46DE9}" presName="node" presStyleLbl="node1" presStyleIdx="7" presStyleCnt="11">
        <dgm:presLayoutVars>
          <dgm:bulletEnabled val="1"/>
        </dgm:presLayoutVars>
      </dgm:prSet>
      <dgm:spPr/>
    </dgm:pt>
    <dgm:pt modelId="{3247F004-CB77-6C4F-AE28-63DAD9855651}" type="pres">
      <dgm:prSet presAssocID="{01491606-3099-4552-95A1-A324A180B5E6}" presName="sibTrans" presStyleLbl="sibTrans1D1" presStyleIdx="7" presStyleCnt="10"/>
      <dgm:spPr/>
    </dgm:pt>
    <dgm:pt modelId="{4C8E6010-D084-DA44-9495-A492EE2185E0}" type="pres">
      <dgm:prSet presAssocID="{01491606-3099-4552-95A1-A324A180B5E6}" presName="connectorText" presStyleLbl="sibTrans1D1" presStyleIdx="7" presStyleCnt="10"/>
      <dgm:spPr/>
    </dgm:pt>
    <dgm:pt modelId="{B0CA0676-9EE8-B04B-85FC-F27A70E792EE}" type="pres">
      <dgm:prSet presAssocID="{C1BCBA44-2E6B-4D23-B887-8D2E4CFC0C3C}" presName="node" presStyleLbl="node1" presStyleIdx="8" presStyleCnt="11" custScaleX="116997">
        <dgm:presLayoutVars>
          <dgm:bulletEnabled val="1"/>
        </dgm:presLayoutVars>
      </dgm:prSet>
      <dgm:spPr/>
    </dgm:pt>
    <dgm:pt modelId="{454DC730-45ED-E940-A843-CF64AD22C80E}" type="pres">
      <dgm:prSet presAssocID="{0282C908-4816-4AFF-B303-F83237D443DA}" presName="sibTrans" presStyleLbl="sibTrans1D1" presStyleIdx="8" presStyleCnt="10"/>
      <dgm:spPr/>
    </dgm:pt>
    <dgm:pt modelId="{4EA8592C-1F75-4443-B1EA-A3ECFCADCF93}" type="pres">
      <dgm:prSet presAssocID="{0282C908-4816-4AFF-B303-F83237D443DA}" presName="connectorText" presStyleLbl="sibTrans1D1" presStyleIdx="8" presStyleCnt="10"/>
      <dgm:spPr/>
    </dgm:pt>
    <dgm:pt modelId="{850D23D9-486C-B942-AA9C-BB44403DAC26}" type="pres">
      <dgm:prSet presAssocID="{8A40B6D9-6E22-4AB5-A00B-4C9545244263}" presName="node" presStyleLbl="node1" presStyleIdx="9" presStyleCnt="11">
        <dgm:presLayoutVars>
          <dgm:bulletEnabled val="1"/>
        </dgm:presLayoutVars>
      </dgm:prSet>
      <dgm:spPr/>
    </dgm:pt>
    <dgm:pt modelId="{30DC8617-C179-4E41-A4A6-A7D05D00F163}" type="pres">
      <dgm:prSet presAssocID="{15CA0DFD-6444-4D8E-83EF-383E3A946BB8}" presName="sibTrans" presStyleLbl="sibTrans1D1" presStyleIdx="9" presStyleCnt="10"/>
      <dgm:spPr/>
    </dgm:pt>
    <dgm:pt modelId="{77389E75-D965-B24F-B3C4-386160BF128B}" type="pres">
      <dgm:prSet presAssocID="{15CA0DFD-6444-4D8E-83EF-383E3A946BB8}" presName="connectorText" presStyleLbl="sibTrans1D1" presStyleIdx="9" presStyleCnt="10"/>
      <dgm:spPr/>
    </dgm:pt>
    <dgm:pt modelId="{00289157-ABB4-1043-ADEF-A57DF42BAB91}" type="pres">
      <dgm:prSet presAssocID="{1605A4C5-9846-4EA6-B759-5E4E399CA015}" presName="node" presStyleLbl="node1" presStyleIdx="10" presStyleCnt="11">
        <dgm:presLayoutVars>
          <dgm:bulletEnabled val="1"/>
        </dgm:presLayoutVars>
      </dgm:prSet>
      <dgm:spPr/>
    </dgm:pt>
  </dgm:ptLst>
  <dgm:cxnLst>
    <dgm:cxn modelId="{E3761F06-4544-4141-8809-58CBC1AE64E2}" type="presOf" srcId="{367D8C96-4C0B-4F41-9DBC-6ED88050D1DC}" destId="{D3896D49-EAB4-4640-99B8-32BB2D2A4962}" srcOrd="0" destOrd="0" presId="urn:microsoft.com/office/officeart/2016/7/layout/RepeatingBendingProcessNew"/>
    <dgm:cxn modelId="{4014F30D-76B7-2548-9F43-4E4E164BAD87}" type="presOf" srcId="{B48D071D-81C9-448A-BE64-BC1D3842DBE9}" destId="{D0F388DA-88C3-7949-B1D8-82059C5D70D8}" srcOrd="0" destOrd="0" presId="urn:microsoft.com/office/officeart/2016/7/layout/RepeatingBendingProcessNew"/>
    <dgm:cxn modelId="{A4824B10-EBBD-4777-84F0-C7B584C3FB7C}" srcId="{58115158-3A23-42AB-AD34-F2130E7719C8}" destId="{9B5A6DDE-2F90-463A-A6D0-B61811288069}" srcOrd="5" destOrd="0" parTransId="{5807E8B2-74B0-4F7D-A200-E0DFA2E37AC1}" sibTransId="{367D8C96-4C0B-4F41-9DBC-6ED88050D1DC}"/>
    <dgm:cxn modelId="{78367F12-277F-46DC-B753-2D1BFE304959}" srcId="{58115158-3A23-42AB-AD34-F2130E7719C8}" destId="{8A40B6D9-6E22-4AB5-A00B-4C9545244263}" srcOrd="9" destOrd="0" parTransId="{556BDD25-B598-480B-8B6B-703530217163}" sibTransId="{15CA0DFD-6444-4D8E-83EF-383E3A946BB8}"/>
    <dgm:cxn modelId="{CD1F6F1C-519C-454B-AE7D-3749EED72FE7}" type="presOf" srcId="{A5BE1BB9-119B-410D-8593-80BF144DF3CF}" destId="{DD056A0D-DF10-3842-9D0A-191458964E1E}" srcOrd="0" destOrd="0" presId="urn:microsoft.com/office/officeart/2016/7/layout/RepeatingBendingProcessNew"/>
    <dgm:cxn modelId="{6878B11D-2B35-B143-9C10-9C08862B4F39}" type="presOf" srcId="{98D65647-02B2-49C8-91B0-DA1D00704D6E}" destId="{91895BAB-5FD8-874B-AC43-BE7518819C3B}" srcOrd="0" destOrd="0" presId="urn:microsoft.com/office/officeart/2016/7/layout/RepeatingBendingProcessNew"/>
    <dgm:cxn modelId="{0A09391F-655D-4619-BC9B-09829963171C}" srcId="{58115158-3A23-42AB-AD34-F2130E7719C8}" destId="{98D65647-02B2-49C8-91B0-DA1D00704D6E}" srcOrd="1" destOrd="0" parTransId="{2EC2F788-AEA0-465E-9C7A-8461BEE83A08}" sibTransId="{C8D6FFE8-D192-45AE-8C75-4E66487A4746}"/>
    <dgm:cxn modelId="{72DA5822-0480-B643-B477-55FFA742008C}" type="presOf" srcId="{0282C908-4816-4AFF-B303-F83237D443DA}" destId="{4EA8592C-1F75-4443-B1EA-A3ECFCADCF93}" srcOrd="1" destOrd="0" presId="urn:microsoft.com/office/officeart/2016/7/layout/RepeatingBendingProcessNew"/>
    <dgm:cxn modelId="{0E6AF823-E1E6-8141-9170-FF33441612B5}" type="presOf" srcId="{4F9A1EE9-DA10-4146-B940-00F47A1A0F16}" destId="{EE0CBE46-917B-694F-B134-09D3A95B96FC}" srcOrd="0" destOrd="0" presId="urn:microsoft.com/office/officeart/2016/7/layout/RepeatingBendingProcessNew"/>
    <dgm:cxn modelId="{7933D227-268C-F74C-84C2-1357610982CE}" type="presOf" srcId="{15CA0DFD-6444-4D8E-83EF-383E3A946BB8}" destId="{77389E75-D965-B24F-B3C4-386160BF128B}" srcOrd="1" destOrd="0" presId="urn:microsoft.com/office/officeart/2016/7/layout/RepeatingBendingProcessNew"/>
    <dgm:cxn modelId="{B7B6BF2B-F6F3-5A4F-970B-6756D70ED0CE}" type="presOf" srcId="{C8D6FFE8-D192-45AE-8C75-4E66487A4746}" destId="{63651412-98B3-9745-88A1-57637D4404A3}" srcOrd="1" destOrd="0" presId="urn:microsoft.com/office/officeart/2016/7/layout/RepeatingBendingProcessNew"/>
    <dgm:cxn modelId="{9ED7CF30-E118-4595-9A27-ABCA5725C0CF}" srcId="{58115158-3A23-42AB-AD34-F2130E7719C8}" destId="{FB8B5A4C-3E1A-40F3-A67C-12A9E1E46DE9}" srcOrd="7" destOrd="0" parTransId="{90634697-8D5E-45A7-B1BD-C3D2D8B09C8E}" sibTransId="{01491606-3099-4552-95A1-A324A180B5E6}"/>
    <dgm:cxn modelId="{7011C53C-9B89-5849-8DB3-0618D06620D3}" type="presOf" srcId="{7AFB36D5-1DDD-487C-9B90-C6420A8E1021}" destId="{B9053BAD-0B03-0F4D-9C8F-CF92A4FC931C}" srcOrd="0" destOrd="0" presId="urn:microsoft.com/office/officeart/2016/7/layout/RepeatingBendingProcessNew"/>
    <dgm:cxn modelId="{4AE68042-A666-FF49-9819-036B55C485EE}" type="presOf" srcId="{DF28B84D-91A0-477A-9348-6C92B433756B}" destId="{45370543-5681-1949-A181-B1A6F117A203}" srcOrd="0" destOrd="0" presId="urn:microsoft.com/office/officeart/2016/7/layout/RepeatingBendingProcessNew"/>
    <dgm:cxn modelId="{78DC3853-152C-445F-810E-06C92D0F0AB5}" srcId="{58115158-3A23-42AB-AD34-F2130E7719C8}" destId="{2EDF938E-B30C-4D04-BE7B-7923713AC217}" srcOrd="6" destOrd="0" parTransId="{6CCA9D02-8D0C-42D1-A5AA-C9A03BA9B3E5}" sibTransId="{AAD09E29-48F1-438B-BA71-61D1F111AF31}"/>
    <dgm:cxn modelId="{A4243E5E-C3F3-5248-AA68-0817301E2710}" type="presOf" srcId="{C8D6FFE8-D192-45AE-8C75-4E66487A4746}" destId="{1298CA7D-9397-F046-8FBA-9B43034A2136}" srcOrd="0" destOrd="0" presId="urn:microsoft.com/office/officeart/2016/7/layout/RepeatingBendingProcessNew"/>
    <dgm:cxn modelId="{A20A6C65-E089-0740-B343-A9DE995DF99D}" type="presOf" srcId="{DF28B84D-91A0-477A-9348-6C92B433756B}" destId="{C9C00826-76B6-5D4D-97CC-FB36E568C00B}" srcOrd="1" destOrd="0" presId="urn:microsoft.com/office/officeart/2016/7/layout/RepeatingBendingProcessNew"/>
    <dgm:cxn modelId="{51982867-15C5-4BBC-92E1-E59CE7553523}" srcId="{58115158-3A23-42AB-AD34-F2130E7719C8}" destId="{1605A4C5-9846-4EA6-B759-5E4E399CA015}" srcOrd="10" destOrd="0" parTransId="{07F56896-5C0E-4259-9F8D-BA6A4B0697A7}" sibTransId="{8ECF4C77-2634-4719-A3CD-4687733AA99B}"/>
    <dgm:cxn modelId="{1FF3EC6A-B4ED-0A48-8354-DFF16C3C47EE}" type="presOf" srcId="{8BF244BA-B4ED-4B88-9CE9-364F709592A1}" destId="{5CD865DE-50FB-8F4D-A4C2-B5756A46DA1E}" srcOrd="0" destOrd="0" presId="urn:microsoft.com/office/officeart/2016/7/layout/RepeatingBendingProcessNew"/>
    <dgm:cxn modelId="{1E12C36C-040E-7949-97D1-E4DC0FC27FBD}" type="presOf" srcId="{01491606-3099-4552-95A1-A324A180B5E6}" destId="{3247F004-CB77-6C4F-AE28-63DAD9855651}" srcOrd="0" destOrd="0" presId="urn:microsoft.com/office/officeart/2016/7/layout/RepeatingBendingProcessNew"/>
    <dgm:cxn modelId="{249DEB6E-9E72-5245-AEA4-247BE0AABB59}" type="presOf" srcId="{AAD09E29-48F1-438B-BA71-61D1F111AF31}" destId="{175CBBA9-88A4-DB48-9F85-BD5C1D6D8673}" srcOrd="1" destOrd="0" presId="urn:microsoft.com/office/officeart/2016/7/layout/RepeatingBendingProcessNew"/>
    <dgm:cxn modelId="{B13D7175-9F66-F24E-B91F-62A613359BD9}" type="presOf" srcId="{2B699B9B-06FB-4E38-B3EF-4EDF82A6B7D2}" destId="{B99CFE5C-D481-1A44-8CB3-E2E52C02D634}" srcOrd="0" destOrd="0" presId="urn:microsoft.com/office/officeart/2016/7/layout/RepeatingBendingProcessNew"/>
    <dgm:cxn modelId="{690DC175-552E-4858-9EDC-A9F93F6B7D7C}" srcId="{58115158-3A23-42AB-AD34-F2130E7719C8}" destId="{4F9A1EE9-DA10-4146-B940-00F47A1A0F16}" srcOrd="4" destOrd="0" parTransId="{AB0D177D-0860-4B6B-AD52-6B79E3687AC1}" sibTransId="{D96A73F4-2D62-4CEF-ADAC-8CF2CB25F84B}"/>
    <dgm:cxn modelId="{57C15177-6813-774B-BD7B-835CDCFF0A21}" type="presOf" srcId="{1605A4C5-9846-4EA6-B759-5E4E399CA015}" destId="{00289157-ABB4-1043-ADEF-A57DF42BAB91}" srcOrd="0" destOrd="0" presId="urn:microsoft.com/office/officeart/2016/7/layout/RepeatingBendingProcessNew"/>
    <dgm:cxn modelId="{44B5E177-A4B7-0B4F-AF7E-E0AA4DFCC908}" type="presOf" srcId="{58115158-3A23-42AB-AD34-F2130E7719C8}" destId="{AD885AEA-C313-904C-B4BB-1D425E5E70EE}" srcOrd="0" destOrd="0" presId="urn:microsoft.com/office/officeart/2016/7/layout/RepeatingBendingProcessNew"/>
    <dgm:cxn modelId="{7CCD9580-801E-AA45-A160-E45B2A43B5A6}" type="presOf" srcId="{7AFB36D5-1DDD-487C-9B90-C6420A8E1021}" destId="{0213CEDA-F1CF-5F47-99A2-527B9AD26506}" srcOrd="1" destOrd="0" presId="urn:microsoft.com/office/officeart/2016/7/layout/RepeatingBendingProcessNew"/>
    <dgm:cxn modelId="{3CEF3784-68F1-4399-9581-BDA26F676CF1}" srcId="{58115158-3A23-42AB-AD34-F2130E7719C8}" destId="{B48D071D-81C9-448A-BE64-BC1D3842DBE9}" srcOrd="0" destOrd="0" parTransId="{4C84F7FD-214B-49F5-BB84-AFE7AA29029B}" sibTransId="{DF28B84D-91A0-477A-9348-6C92B433756B}"/>
    <dgm:cxn modelId="{1689AC8A-4182-5F4E-BA8F-CF3A8EFFFEAD}" type="presOf" srcId="{0282C908-4816-4AFF-B303-F83237D443DA}" destId="{454DC730-45ED-E940-A843-CF64AD22C80E}" srcOrd="0" destOrd="0" presId="urn:microsoft.com/office/officeart/2016/7/layout/RepeatingBendingProcessNew"/>
    <dgm:cxn modelId="{14B8E28C-B92D-8242-9EB4-6A718DA04C55}" type="presOf" srcId="{D96A73F4-2D62-4CEF-ADAC-8CF2CB25F84B}" destId="{35CA3D0B-908B-8549-B590-F1957C0FEFEB}" srcOrd="0" destOrd="0" presId="urn:microsoft.com/office/officeart/2016/7/layout/RepeatingBendingProcessNew"/>
    <dgm:cxn modelId="{0219288F-E360-7B4C-9674-0E8B3DD34393}" type="presOf" srcId="{FB8B5A4C-3E1A-40F3-A67C-12A9E1E46DE9}" destId="{2DB115F6-21CF-424D-B29A-C7C5A7256202}" srcOrd="0" destOrd="0" presId="urn:microsoft.com/office/officeart/2016/7/layout/RepeatingBendingProcessNew"/>
    <dgm:cxn modelId="{8FFD7192-8A74-6244-B02D-81556B72ADDB}" type="presOf" srcId="{AAD09E29-48F1-438B-BA71-61D1F111AF31}" destId="{54ECF201-035F-C24F-A10F-64E4642B816E}" srcOrd="0" destOrd="0" presId="urn:microsoft.com/office/officeart/2016/7/layout/RepeatingBendingProcessNew"/>
    <dgm:cxn modelId="{2773BE99-E68C-9549-BA5B-921C089670C4}" type="presOf" srcId="{C1BCBA44-2E6B-4D23-B887-8D2E4CFC0C3C}" destId="{B0CA0676-9EE8-B04B-85FC-F27A70E792EE}" srcOrd="0" destOrd="0" presId="urn:microsoft.com/office/officeart/2016/7/layout/RepeatingBendingProcessNew"/>
    <dgm:cxn modelId="{4BE3469E-3C4E-D14B-A70F-6C9DABBA999D}" type="presOf" srcId="{D96A73F4-2D62-4CEF-ADAC-8CF2CB25F84B}" destId="{CAA0B343-61A2-DD4F-A08F-A2414073589D}" srcOrd="1" destOrd="0" presId="urn:microsoft.com/office/officeart/2016/7/layout/RepeatingBendingProcessNew"/>
    <dgm:cxn modelId="{635D82A4-DE44-4B7A-A2E5-164BD72CAC1F}" srcId="{58115158-3A23-42AB-AD34-F2130E7719C8}" destId="{8BF244BA-B4ED-4B88-9CE9-364F709592A1}" srcOrd="2" destOrd="0" parTransId="{97BE8F1A-2D9C-48DB-AC1B-A9149BC61F4B}" sibTransId="{7AFB36D5-1DDD-487C-9B90-C6420A8E1021}"/>
    <dgm:cxn modelId="{506D83A9-8088-734C-B90F-DC2378652CA2}" type="presOf" srcId="{15CA0DFD-6444-4D8E-83EF-383E3A946BB8}" destId="{30DC8617-C179-4E41-A4A6-A7D05D00F163}" srcOrd="0" destOrd="0" presId="urn:microsoft.com/office/officeart/2016/7/layout/RepeatingBendingProcessNew"/>
    <dgm:cxn modelId="{84F95AB7-76B7-AC4F-9749-731541F3C65D}" type="presOf" srcId="{8A40B6D9-6E22-4AB5-A00B-4C9545244263}" destId="{850D23D9-486C-B942-AA9C-BB44403DAC26}" srcOrd="0" destOrd="0" presId="urn:microsoft.com/office/officeart/2016/7/layout/RepeatingBendingProcessNew"/>
    <dgm:cxn modelId="{4732A3B9-7F4F-4880-A131-219A74547C2D}" srcId="{58115158-3A23-42AB-AD34-F2130E7719C8}" destId="{C1BCBA44-2E6B-4D23-B887-8D2E4CFC0C3C}" srcOrd="8" destOrd="0" parTransId="{851DD811-AE13-4153-A5E5-839ABCA36855}" sibTransId="{0282C908-4816-4AFF-B303-F83237D443DA}"/>
    <dgm:cxn modelId="{017C9DBB-BC0C-2440-A7FE-B8EBA0FACDDF}" type="presOf" srcId="{9B5A6DDE-2F90-463A-A6D0-B61811288069}" destId="{D8C870AD-B6AB-2648-8DC6-869F0FEF3590}" srcOrd="0" destOrd="0" presId="urn:microsoft.com/office/officeart/2016/7/layout/RepeatingBendingProcessNew"/>
    <dgm:cxn modelId="{F78431CB-D4B7-8243-B24D-8A2D061A5332}" type="presOf" srcId="{01491606-3099-4552-95A1-A324A180B5E6}" destId="{4C8E6010-D084-DA44-9495-A492EE2185E0}" srcOrd="1" destOrd="0" presId="urn:microsoft.com/office/officeart/2016/7/layout/RepeatingBendingProcessNew"/>
    <dgm:cxn modelId="{18734DD8-1CE9-D24D-AD9C-38EBA73FD7D0}" type="presOf" srcId="{367D8C96-4C0B-4F41-9DBC-6ED88050D1DC}" destId="{D84C3BA2-CD61-DF4D-A489-D5BCB3F764CF}" srcOrd="1" destOrd="0" presId="urn:microsoft.com/office/officeart/2016/7/layout/RepeatingBendingProcessNew"/>
    <dgm:cxn modelId="{5BA5F6E1-3AF0-44BA-ADC5-D01EA6B2B3E7}" srcId="{58115158-3A23-42AB-AD34-F2130E7719C8}" destId="{A5BE1BB9-119B-410D-8593-80BF144DF3CF}" srcOrd="3" destOrd="0" parTransId="{D88A501A-4EC4-43F1-A35B-0500B8E73A1E}" sibTransId="{2B699B9B-06FB-4E38-B3EF-4EDF82A6B7D2}"/>
    <dgm:cxn modelId="{BED6A2E5-0FCA-E74B-900C-84A533E5483C}" type="presOf" srcId="{2B699B9B-06FB-4E38-B3EF-4EDF82A6B7D2}" destId="{C36133E8-CE0C-F440-A27E-0205C213AE38}" srcOrd="1" destOrd="0" presId="urn:microsoft.com/office/officeart/2016/7/layout/RepeatingBendingProcessNew"/>
    <dgm:cxn modelId="{EF2CECEC-10D3-C747-9388-A64F23472E0C}" type="presOf" srcId="{2EDF938E-B30C-4D04-BE7B-7923713AC217}" destId="{6C58FBE4-2C97-984E-9147-A711F2CE75E9}" srcOrd="0" destOrd="0" presId="urn:microsoft.com/office/officeart/2016/7/layout/RepeatingBendingProcessNew"/>
    <dgm:cxn modelId="{469D35DE-A3AD-724B-B13B-7E9FE9DE818B}" type="presParOf" srcId="{AD885AEA-C313-904C-B4BB-1D425E5E70EE}" destId="{D0F388DA-88C3-7949-B1D8-82059C5D70D8}" srcOrd="0" destOrd="0" presId="urn:microsoft.com/office/officeart/2016/7/layout/RepeatingBendingProcessNew"/>
    <dgm:cxn modelId="{7B72D974-554B-1E4B-9300-3DBBF8D8DFFC}" type="presParOf" srcId="{AD885AEA-C313-904C-B4BB-1D425E5E70EE}" destId="{45370543-5681-1949-A181-B1A6F117A203}" srcOrd="1" destOrd="0" presId="urn:microsoft.com/office/officeart/2016/7/layout/RepeatingBendingProcessNew"/>
    <dgm:cxn modelId="{D9D65722-4A0D-3542-8939-E6B6362477B1}" type="presParOf" srcId="{45370543-5681-1949-A181-B1A6F117A203}" destId="{C9C00826-76B6-5D4D-97CC-FB36E568C00B}" srcOrd="0" destOrd="0" presId="urn:microsoft.com/office/officeart/2016/7/layout/RepeatingBendingProcessNew"/>
    <dgm:cxn modelId="{A55D0055-F8E5-9F47-9D22-4043BE0F08AB}" type="presParOf" srcId="{AD885AEA-C313-904C-B4BB-1D425E5E70EE}" destId="{91895BAB-5FD8-874B-AC43-BE7518819C3B}" srcOrd="2" destOrd="0" presId="urn:microsoft.com/office/officeart/2016/7/layout/RepeatingBendingProcessNew"/>
    <dgm:cxn modelId="{076B2D26-C70B-634D-AFFE-FDA44C664D85}" type="presParOf" srcId="{AD885AEA-C313-904C-B4BB-1D425E5E70EE}" destId="{1298CA7D-9397-F046-8FBA-9B43034A2136}" srcOrd="3" destOrd="0" presId="urn:microsoft.com/office/officeart/2016/7/layout/RepeatingBendingProcessNew"/>
    <dgm:cxn modelId="{9F9F79EF-CD7E-CB4C-BD5F-DBF5295B3518}" type="presParOf" srcId="{1298CA7D-9397-F046-8FBA-9B43034A2136}" destId="{63651412-98B3-9745-88A1-57637D4404A3}" srcOrd="0" destOrd="0" presId="urn:microsoft.com/office/officeart/2016/7/layout/RepeatingBendingProcessNew"/>
    <dgm:cxn modelId="{B7C39803-E980-224E-B56E-A0436306893F}" type="presParOf" srcId="{AD885AEA-C313-904C-B4BB-1D425E5E70EE}" destId="{5CD865DE-50FB-8F4D-A4C2-B5756A46DA1E}" srcOrd="4" destOrd="0" presId="urn:microsoft.com/office/officeart/2016/7/layout/RepeatingBendingProcessNew"/>
    <dgm:cxn modelId="{D2BEAD7E-E6B6-8045-A22B-5D391317D140}" type="presParOf" srcId="{AD885AEA-C313-904C-B4BB-1D425E5E70EE}" destId="{B9053BAD-0B03-0F4D-9C8F-CF92A4FC931C}" srcOrd="5" destOrd="0" presId="urn:microsoft.com/office/officeart/2016/7/layout/RepeatingBendingProcessNew"/>
    <dgm:cxn modelId="{0B179DDD-64E8-5142-AA3B-CB309E604339}" type="presParOf" srcId="{B9053BAD-0B03-0F4D-9C8F-CF92A4FC931C}" destId="{0213CEDA-F1CF-5F47-99A2-527B9AD26506}" srcOrd="0" destOrd="0" presId="urn:microsoft.com/office/officeart/2016/7/layout/RepeatingBendingProcessNew"/>
    <dgm:cxn modelId="{7270B2DC-6880-424E-B964-D84D5C3CD05F}" type="presParOf" srcId="{AD885AEA-C313-904C-B4BB-1D425E5E70EE}" destId="{DD056A0D-DF10-3842-9D0A-191458964E1E}" srcOrd="6" destOrd="0" presId="urn:microsoft.com/office/officeart/2016/7/layout/RepeatingBendingProcessNew"/>
    <dgm:cxn modelId="{8A610695-2F70-F345-8999-10F7020E86C2}" type="presParOf" srcId="{AD885AEA-C313-904C-B4BB-1D425E5E70EE}" destId="{B99CFE5C-D481-1A44-8CB3-E2E52C02D634}" srcOrd="7" destOrd="0" presId="urn:microsoft.com/office/officeart/2016/7/layout/RepeatingBendingProcessNew"/>
    <dgm:cxn modelId="{4F22E15C-B15A-3242-BFFA-0485FE38FDDD}" type="presParOf" srcId="{B99CFE5C-D481-1A44-8CB3-E2E52C02D634}" destId="{C36133E8-CE0C-F440-A27E-0205C213AE38}" srcOrd="0" destOrd="0" presId="urn:microsoft.com/office/officeart/2016/7/layout/RepeatingBendingProcessNew"/>
    <dgm:cxn modelId="{8242840C-391B-5D44-A96F-16BE4DFF8BB2}" type="presParOf" srcId="{AD885AEA-C313-904C-B4BB-1D425E5E70EE}" destId="{EE0CBE46-917B-694F-B134-09D3A95B96FC}" srcOrd="8" destOrd="0" presId="urn:microsoft.com/office/officeart/2016/7/layout/RepeatingBendingProcessNew"/>
    <dgm:cxn modelId="{619ED28A-25E1-514E-966C-F1427876148C}" type="presParOf" srcId="{AD885AEA-C313-904C-B4BB-1D425E5E70EE}" destId="{35CA3D0B-908B-8549-B590-F1957C0FEFEB}" srcOrd="9" destOrd="0" presId="urn:microsoft.com/office/officeart/2016/7/layout/RepeatingBendingProcessNew"/>
    <dgm:cxn modelId="{C4D29B12-96EC-8345-9CC9-9693E1C315A9}" type="presParOf" srcId="{35CA3D0B-908B-8549-B590-F1957C0FEFEB}" destId="{CAA0B343-61A2-DD4F-A08F-A2414073589D}" srcOrd="0" destOrd="0" presId="urn:microsoft.com/office/officeart/2016/7/layout/RepeatingBendingProcessNew"/>
    <dgm:cxn modelId="{9F492758-89ED-FB46-BBFB-7AB9FC6AF064}" type="presParOf" srcId="{AD885AEA-C313-904C-B4BB-1D425E5E70EE}" destId="{D8C870AD-B6AB-2648-8DC6-869F0FEF3590}" srcOrd="10" destOrd="0" presId="urn:microsoft.com/office/officeart/2016/7/layout/RepeatingBendingProcessNew"/>
    <dgm:cxn modelId="{F7B38AE4-ED2B-FB42-A5B1-0A2DCF2264CE}" type="presParOf" srcId="{AD885AEA-C313-904C-B4BB-1D425E5E70EE}" destId="{D3896D49-EAB4-4640-99B8-32BB2D2A4962}" srcOrd="11" destOrd="0" presId="urn:microsoft.com/office/officeart/2016/7/layout/RepeatingBendingProcessNew"/>
    <dgm:cxn modelId="{A19D7CA5-B85B-4F4C-9338-064C83732EF3}" type="presParOf" srcId="{D3896D49-EAB4-4640-99B8-32BB2D2A4962}" destId="{D84C3BA2-CD61-DF4D-A489-D5BCB3F764CF}" srcOrd="0" destOrd="0" presId="urn:microsoft.com/office/officeart/2016/7/layout/RepeatingBendingProcessNew"/>
    <dgm:cxn modelId="{C4EE773D-1A34-0A41-AB40-82A84CB1E41D}" type="presParOf" srcId="{AD885AEA-C313-904C-B4BB-1D425E5E70EE}" destId="{6C58FBE4-2C97-984E-9147-A711F2CE75E9}" srcOrd="12" destOrd="0" presId="urn:microsoft.com/office/officeart/2016/7/layout/RepeatingBendingProcessNew"/>
    <dgm:cxn modelId="{1C0BA629-AB30-A845-BE9E-DAEC7DCDDAF7}" type="presParOf" srcId="{AD885AEA-C313-904C-B4BB-1D425E5E70EE}" destId="{54ECF201-035F-C24F-A10F-64E4642B816E}" srcOrd="13" destOrd="0" presId="urn:microsoft.com/office/officeart/2016/7/layout/RepeatingBendingProcessNew"/>
    <dgm:cxn modelId="{F18D6321-CFF2-934E-8D44-A4BE76DF8DD7}" type="presParOf" srcId="{54ECF201-035F-C24F-A10F-64E4642B816E}" destId="{175CBBA9-88A4-DB48-9F85-BD5C1D6D8673}" srcOrd="0" destOrd="0" presId="urn:microsoft.com/office/officeart/2016/7/layout/RepeatingBendingProcessNew"/>
    <dgm:cxn modelId="{9EF6CF20-9F16-3647-B84C-F2F2D889070A}" type="presParOf" srcId="{AD885AEA-C313-904C-B4BB-1D425E5E70EE}" destId="{2DB115F6-21CF-424D-B29A-C7C5A7256202}" srcOrd="14" destOrd="0" presId="urn:microsoft.com/office/officeart/2016/7/layout/RepeatingBendingProcessNew"/>
    <dgm:cxn modelId="{A96205D0-DB21-D940-B0BC-F1B67FBC2DEB}" type="presParOf" srcId="{AD885AEA-C313-904C-B4BB-1D425E5E70EE}" destId="{3247F004-CB77-6C4F-AE28-63DAD9855651}" srcOrd="15" destOrd="0" presId="urn:microsoft.com/office/officeart/2016/7/layout/RepeatingBendingProcessNew"/>
    <dgm:cxn modelId="{97A51009-A4DA-AC4A-9351-F41A51129FE0}" type="presParOf" srcId="{3247F004-CB77-6C4F-AE28-63DAD9855651}" destId="{4C8E6010-D084-DA44-9495-A492EE2185E0}" srcOrd="0" destOrd="0" presId="urn:microsoft.com/office/officeart/2016/7/layout/RepeatingBendingProcessNew"/>
    <dgm:cxn modelId="{0E87F697-8FBB-ED47-A995-6910737E6B94}" type="presParOf" srcId="{AD885AEA-C313-904C-B4BB-1D425E5E70EE}" destId="{B0CA0676-9EE8-B04B-85FC-F27A70E792EE}" srcOrd="16" destOrd="0" presId="urn:microsoft.com/office/officeart/2016/7/layout/RepeatingBendingProcessNew"/>
    <dgm:cxn modelId="{2BE7CB6D-0599-9D49-8721-0F86FC0D10F9}" type="presParOf" srcId="{AD885AEA-C313-904C-B4BB-1D425E5E70EE}" destId="{454DC730-45ED-E940-A843-CF64AD22C80E}" srcOrd="17" destOrd="0" presId="urn:microsoft.com/office/officeart/2016/7/layout/RepeatingBendingProcessNew"/>
    <dgm:cxn modelId="{8ACCD2DE-C73A-1F44-A9FC-836CDA6B9ECD}" type="presParOf" srcId="{454DC730-45ED-E940-A843-CF64AD22C80E}" destId="{4EA8592C-1F75-4443-B1EA-A3ECFCADCF93}" srcOrd="0" destOrd="0" presId="urn:microsoft.com/office/officeart/2016/7/layout/RepeatingBendingProcessNew"/>
    <dgm:cxn modelId="{115AF2A3-6EE9-1741-9B74-8E6026DFC2A1}" type="presParOf" srcId="{AD885AEA-C313-904C-B4BB-1D425E5E70EE}" destId="{850D23D9-486C-B942-AA9C-BB44403DAC26}" srcOrd="18" destOrd="0" presId="urn:microsoft.com/office/officeart/2016/7/layout/RepeatingBendingProcessNew"/>
    <dgm:cxn modelId="{99BE2D46-3AC8-B948-8A5B-BF9357575D30}" type="presParOf" srcId="{AD885AEA-C313-904C-B4BB-1D425E5E70EE}" destId="{30DC8617-C179-4E41-A4A6-A7D05D00F163}" srcOrd="19" destOrd="0" presId="urn:microsoft.com/office/officeart/2016/7/layout/RepeatingBendingProcessNew"/>
    <dgm:cxn modelId="{7C664977-05DD-474F-8C19-8759BCC9F8D7}" type="presParOf" srcId="{30DC8617-C179-4E41-A4A6-A7D05D00F163}" destId="{77389E75-D965-B24F-B3C4-386160BF128B}" srcOrd="0" destOrd="0" presId="urn:microsoft.com/office/officeart/2016/7/layout/RepeatingBendingProcessNew"/>
    <dgm:cxn modelId="{45BABF62-274C-7041-BB9C-162741BEDEDD}" type="presParOf" srcId="{AD885AEA-C313-904C-B4BB-1D425E5E70EE}" destId="{00289157-ABB4-1043-ADEF-A57DF42BAB91}" srcOrd="2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B96BED-1365-4FD3-BF26-576E53AACB68}">
      <dsp:nvSpPr>
        <dsp:cNvPr id="0" name=""/>
        <dsp:cNvSpPr/>
      </dsp:nvSpPr>
      <dsp:spPr>
        <a:xfrm>
          <a:off x="1589906" y="41753"/>
          <a:ext cx="969957" cy="96995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B45326-3AED-4E97-B4E5-BC49A061A556}">
      <dsp:nvSpPr>
        <dsp:cNvPr id="0" name=""/>
        <dsp:cNvSpPr/>
      </dsp:nvSpPr>
      <dsp:spPr>
        <a:xfrm>
          <a:off x="1793597" y="245444"/>
          <a:ext cx="562575" cy="5625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FF5E20-D71E-437E-B202-D9C3EC09511E}">
      <dsp:nvSpPr>
        <dsp:cNvPr id="0" name=""/>
        <dsp:cNvSpPr/>
      </dsp:nvSpPr>
      <dsp:spPr>
        <a:xfrm>
          <a:off x="2767712" y="41753"/>
          <a:ext cx="2286328" cy="969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Produce </a:t>
          </a:r>
          <a:r>
            <a:rPr lang="en-US" sz="1200" b="1" kern="1200"/>
            <a:t>in-depth, data-backed stock reports</a:t>
          </a:r>
          <a:r>
            <a:rPr lang="en-US" sz="1200" kern="1200"/>
            <a:t> for portfolio managers and clients.</a:t>
          </a:r>
        </a:p>
      </dsp:txBody>
      <dsp:txXfrm>
        <a:off x="2767712" y="41753"/>
        <a:ext cx="2286328" cy="969957"/>
      </dsp:txXfrm>
    </dsp:sp>
    <dsp:sp modelId="{CD2D21FA-0797-4496-B123-6B49C48875BC}">
      <dsp:nvSpPr>
        <dsp:cNvPr id="0" name=""/>
        <dsp:cNvSpPr/>
      </dsp:nvSpPr>
      <dsp:spPr>
        <a:xfrm>
          <a:off x="5452415" y="41753"/>
          <a:ext cx="969957" cy="96995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CA814A-5D36-4AB0-A3E6-FAF77285B81A}">
      <dsp:nvSpPr>
        <dsp:cNvPr id="0" name=""/>
        <dsp:cNvSpPr/>
      </dsp:nvSpPr>
      <dsp:spPr>
        <a:xfrm>
          <a:off x="5656106" y="245444"/>
          <a:ext cx="562575" cy="5625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AC8683-DD4F-4B4F-8351-719969C8B021}">
      <dsp:nvSpPr>
        <dsp:cNvPr id="0" name=""/>
        <dsp:cNvSpPr/>
      </dsp:nvSpPr>
      <dsp:spPr>
        <a:xfrm>
          <a:off x="6630221" y="41753"/>
          <a:ext cx="2286328" cy="969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Cope with </a:t>
          </a:r>
          <a:r>
            <a:rPr lang="en-US" sz="1200" b="1" kern="1200"/>
            <a:t>heavy time pressure</a:t>
          </a:r>
          <a:r>
            <a:rPr lang="en-US" sz="1200" kern="1200"/>
            <a:t>, especially around earnings and rating changes.</a:t>
          </a:r>
        </a:p>
      </dsp:txBody>
      <dsp:txXfrm>
        <a:off x="6630221" y="41753"/>
        <a:ext cx="2286328" cy="969957"/>
      </dsp:txXfrm>
    </dsp:sp>
    <dsp:sp modelId="{6E3A1D43-2A41-473B-A514-F7E750CAD872}">
      <dsp:nvSpPr>
        <dsp:cNvPr id="0" name=""/>
        <dsp:cNvSpPr/>
      </dsp:nvSpPr>
      <dsp:spPr>
        <a:xfrm>
          <a:off x="1589906" y="1782733"/>
          <a:ext cx="969957" cy="96995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2A5294-53DE-430E-8FCA-6FC510662E68}">
      <dsp:nvSpPr>
        <dsp:cNvPr id="0" name=""/>
        <dsp:cNvSpPr/>
      </dsp:nvSpPr>
      <dsp:spPr>
        <a:xfrm>
          <a:off x="1793597" y="1986424"/>
          <a:ext cx="562575" cy="5625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C0BC38-E27F-4653-A691-BAD1F651A76F}">
      <dsp:nvSpPr>
        <dsp:cNvPr id="0" name=""/>
        <dsp:cNvSpPr/>
      </dsp:nvSpPr>
      <dsp:spPr>
        <a:xfrm>
          <a:off x="2767712" y="1782733"/>
          <a:ext cx="2286328" cy="969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Manually pull and reconcile information from </a:t>
          </a:r>
          <a:r>
            <a:rPr lang="en-US" sz="1200" b="1" kern="1200"/>
            <a:t>multiple sources</a:t>
          </a:r>
          <a:br>
            <a:rPr lang="en-US" sz="1200" kern="1200"/>
          </a:br>
          <a:r>
            <a:rPr lang="en-US" sz="1200" kern="1200"/>
            <a:t>(market data, filings, news, analyst commentary).</a:t>
          </a:r>
        </a:p>
      </dsp:txBody>
      <dsp:txXfrm>
        <a:off x="2767712" y="1782733"/>
        <a:ext cx="2286328" cy="969957"/>
      </dsp:txXfrm>
    </dsp:sp>
    <dsp:sp modelId="{844D3430-18E4-4DC2-879F-BEA15021EC3C}">
      <dsp:nvSpPr>
        <dsp:cNvPr id="0" name=""/>
        <dsp:cNvSpPr/>
      </dsp:nvSpPr>
      <dsp:spPr>
        <a:xfrm>
          <a:off x="5452415" y="1782733"/>
          <a:ext cx="969957" cy="96995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48F7BB-0A65-4753-822C-EE5064FC9620}">
      <dsp:nvSpPr>
        <dsp:cNvPr id="0" name=""/>
        <dsp:cNvSpPr/>
      </dsp:nvSpPr>
      <dsp:spPr>
        <a:xfrm>
          <a:off x="5656106" y="1986424"/>
          <a:ext cx="562575" cy="5625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731190-BA9D-4E18-B431-764FD60E8AD2}">
      <dsp:nvSpPr>
        <dsp:cNvPr id="0" name=""/>
        <dsp:cNvSpPr/>
      </dsp:nvSpPr>
      <dsp:spPr>
        <a:xfrm>
          <a:off x="6630221" y="1782733"/>
          <a:ext cx="2286328" cy="969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Maintain a </a:t>
          </a:r>
          <a:r>
            <a:rPr lang="en-US" sz="1200" b="1" kern="1200"/>
            <a:t>consistent report structure and quality</a:t>
          </a:r>
          <a:r>
            <a:rPr lang="en-US" sz="1200" kern="1200"/>
            <a:t> across different tickers and analysts.</a:t>
          </a:r>
        </a:p>
      </dsp:txBody>
      <dsp:txXfrm>
        <a:off x="6630221" y="1782733"/>
        <a:ext cx="2286328" cy="969957"/>
      </dsp:txXfrm>
    </dsp:sp>
    <dsp:sp modelId="{611E2D23-A817-4936-B339-6B3EC3CBA55A}">
      <dsp:nvSpPr>
        <dsp:cNvPr id="0" name=""/>
        <dsp:cNvSpPr/>
      </dsp:nvSpPr>
      <dsp:spPr>
        <a:xfrm>
          <a:off x="1589906" y="3523712"/>
          <a:ext cx="969957" cy="96995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A96533-6E70-46F5-8220-F9D5C042318A}">
      <dsp:nvSpPr>
        <dsp:cNvPr id="0" name=""/>
        <dsp:cNvSpPr/>
      </dsp:nvSpPr>
      <dsp:spPr>
        <a:xfrm>
          <a:off x="1793597" y="3727403"/>
          <a:ext cx="562575" cy="56257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E10355-3E7C-4DE4-BA6F-2FF9E17EA405}">
      <dsp:nvSpPr>
        <dsp:cNvPr id="0" name=""/>
        <dsp:cNvSpPr/>
      </dsp:nvSpPr>
      <dsp:spPr>
        <a:xfrm>
          <a:off x="2767712" y="3523712"/>
          <a:ext cx="2286328" cy="969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Free up analyst time for </a:t>
          </a:r>
          <a:r>
            <a:rPr lang="en-US" sz="1200" b="1" kern="1200"/>
            <a:t>higher-value work</a:t>
          </a:r>
          <a:r>
            <a:rPr lang="en-US" sz="1200" kern="1200"/>
            <a:t>: idea generation, client conversations, and deep dives.</a:t>
          </a:r>
        </a:p>
      </dsp:txBody>
      <dsp:txXfrm>
        <a:off x="2767712" y="3523712"/>
        <a:ext cx="2286328" cy="9699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F578D5-5752-4FA8-9137-24FAC332F809}">
      <dsp:nvSpPr>
        <dsp:cNvPr id="0" name=""/>
        <dsp:cNvSpPr/>
      </dsp:nvSpPr>
      <dsp:spPr>
        <a:xfrm>
          <a:off x="1212569" y="963834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03007E-1879-4EF4-A0BB-A087A3C260AD}">
      <dsp:nvSpPr>
        <dsp:cNvPr id="0" name=""/>
        <dsp:cNvSpPr/>
      </dsp:nvSpPr>
      <dsp:spPr>
        <a:xfrm>
          <a:off x="417971" y="2628689"/>
          <a:ext cx="288945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Create an AI-driven Equity Research Copilot that turns a ticker + focus area</a:t>
          </a:r>
          <a:br>
            <a:rPr lang="en-US" sz="1100" b="1" kern="1200" dirty="0"/>
          </a:br>
          <a:r>
            <a:rPr lang="en-US" sz="1100" b="1" kern="1200" dirty="0"/>
            <a:t>(e.g., “AI &amp; data center”) into a draft, sell-side style equity research report in minutes.</a:t>
          </a:r>
        </a:p>
      </dsp:txBody>
      <dsp:txXfrm>
        <a:off x="417971" y="2628689"/>
        <a:ext cx="2889450" cy="765000"/>
      </dsp:txXfrm>
    </dsp:sp>
    <dsp:sp modelId="{63993CAC-B866-4C89-AB52-57C42034C6DC}">
      <dsp:nvSpPr>
        <dsp:cNvPr id="0" name=""/>
        <dsp:cNvSpPr/>
      </dsp:nvSpPr>
      <dsp:spPr>
        <a:xfrm>
          <a:off x="4607673" y="963834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657414-2220-4AF1-AA05-CA67F92D79F0}">
      <dsp:nvSpPr>
        <dsp:cNvPr id="0" name=""/>
        <dsp:cNvSpPr/>
      </dsp:nvSpPr>
      <dsp:spPr>
        <a:xfrm>
          <a:off x="3813074" y="2628689"/>
          <a:ext cx="288945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Use </a:t>
          </a:r>
          <a:r>
            <a:rPr lang="en-US" sz="1100" b="1" kern="1200" dirty="0" err="1"/>
            <a:t>GenAI</a:t>
          </a:r>
          <a:r>
            <a:rPr lang="en-US" sz="1100" b="1" kern="1200" dirty="0"/>
            <a:t> agents + live market data (</a:t>
          </a:r>
          <a:r>
            <a:rPr lang="en-US" sz="1100" b="1" kern="1200" dirty="0" err="1"/>
            <a:t>yfinance</a:t>
          </a:r>
          <a:r>
            <a:rPr lang="en-US" sz="1100" b="1" kern="1200" dirty="0"/>
            <a:t>) to auto-generate thesis, catalysts,</a:t>
          </a:r>
          <a:br>
            <a:rPr lang="en-US" sz="1100" b="1" kern="1200" dirty="0"/>
          </a:br>
          <a:r>
            <a:rPr lang="en-US" sz="1100" b="1" kern="1200" dirty="0"/>
            <a:t>financial snapshot, valuation discussion, and key risks.</a:t>
          </a:r>
        </a:p>
      </dsp:txBody>
      <dsp:txXfrm>
        <a:off x="3813074" y="2628689"/>
        <a:ext cx="2889450" cy="765000"/>
      </dsp:txXfrm>
    </dsp:sp>
    <dsp:sp modelId="{3C322742-CCC3-4D9F-9C3C-5EA1361EF2B2}">
      <dsp:nvSpPr>
        <dsp:cNvPr id="0" name=""/>
        <dsp:cNvSpPr/>
      </dsp:nvSpPr>
      <dsp:spPr>
        <a:xfrm>
          <a:off x="8002777" y="963834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8BB42B-A35C-458E-85E2-5BCD40F0CDFD}">
      <dsp:nvSpPr>
        <dsp:cNvPr id="0" name=""/>
        <dsp:cNvSpPr/>
      </dsp:nvSpPr>
      <dsp:spPr>
        <a:xfrm>
          <a:off x="7208178" y="2628689"/>
          <a:ext cx="288945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Keep the human analyst in control: the system drafts; the analyst reviews, edits, and signs off.</a:t>
          </a:r>
        </a:p>
      </dsp:txBody>
      <dsp:txXfrm>
        <a:off x="7208178" y="2628689"/>
        <a:ext cx="2889450" cy="765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370543-5681-1949-A181-B1A6F117A203}">
      <dsp:nvSpPr>
        <dsp:cNvPr id="0" name=""/>
        <dsp:cNvSpPr/>
      </dsp:nvSpPr>
      <dsp:spPr>
        <a:xfrm>
          <a:off x="1829801" y="424019"/>
          <a:ext cx="3270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704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84383" y="467949"/>
        <a:ext cx="17882" cy="3579"/>
      </dsp:txXfrm>
    </dsp:sp>
    <dsp:sp modelId="{D0F388DA-88C3-7949-B1D8-82059C5D70D8}">
      <dsp:nvSpPr>
        <dsp:cNvPr id="0" name=""/>
        <dsp:cNvSpPr/>
      </dsp:nvSpPr>
      <dsp:spPr>
        <a:xfrm>
          <a:off x="276623" y="3246"/>
          <a:ext cx="1554978" cy="9329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195" tIns="79980" rIns="76195" bIns="799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1. Information Gathering</a:t>
          </a:r>
          <a:endParaRPr lang="en-US" sz="1200" kern="1200"/>
        </a:p>
      </dsp:txBody>
      <dsp:txXfrm>
        <a:off x="276623" y="3246"/>
        <a:ext cx="1554978" cy="932986"/>
      </dsp:txXfrm>
    </dsp:sp>
    <dsp:sp modelId="{1298CA7D-9397-F046-8FBA-9B43034A2136}">
      <dsp:nvSpPr>
        <dsp:cNvPr id="0" name=""/>
        <dsp:cNvSpPr/>
      </dsp:nvSpPr>
      <dsp:spPr>
        <a:xfrm>
          <a:off x="3742424" y="424019"/>
          <a:ext cx="3270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704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97006" y="467949"/>
        <a:ext cx="17882" cy="3579"/>
      </dsp:txXfrm>
    </dsp:sp>
    <dsp:sp modelId="{91895BAB-5FD8-874B-AC43-BE7518819C3B}">
      <dsp:nvSpPr>
        <dsp:cNvPr id="0" name=""/>
        <dsp:cNvSpPr/>
      </dsp:nvSpPr>
      <dsp:spPr>
        <a:xfrm>
          <a:off x="2189246" y="3246"/>
          <a:ext cx="1554978" cy="9329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195" tIns="79980" rIns="76195" bIns="799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 err="1"/>
            <a:t>DataAgent</a:t>
          </a:r>
          <a:r>
            <a:rPr lang="en-US" sz="1200" b="1" kern="1200" dirty="0"/>
            <a:t>:</a:t>
          </a:r>
          <a:r>
            <a:rPr lang="en-US" sz="1200" kern="1200" dirty="0"/>
            <a:t> pulls company and industry data.</a:t>
          </a:r>
        </a:p>
      </dsp:txBody>
      <dsp:txXfrm>
        <a:off x="2189246" y="3246"/>
        <a:ext cx="1554978" cy="932986"/>
      </dsp:txXfrm>
    </dsp:sp>
    <dsp:sp modelId="{B9053BAD-0B03-0F4D-9C8F-CF92A4FC931C}">
      <dsp:nvSpPr>
        <dsp:cNvPr id="0" name=""/>
        <dsp:cNvSpPr/>
      </dsp:nvSpPr>
      <dsp:spPr>
        <a:xfrm>
          <a:off x="5919720" y="424019"/>
          <a:ext cx="3270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704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74302" y="467949"/>
        <a:ext cx="17882" cy="3579"/>
      </dsp:txXfrm>
    </dsp:sp>
    <dsp:sp modelId="{5CD865DE-50FB-8F4D-A4C2-B5756A46DA1E}">
      <dsp:nvSpPr>
        <dsp:cNvPr id="0" name=""/>
        <dsp:cNvSpPr/>
      </dsp:nvSpPr>
      <dsp:spPr>
        <a:xfrm>
          <a:off x="4101869" y="3246"/>
          <a:ext cx="1819650" cy="9329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195" tIns="79980" rIns="76195" bIns="799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 err="1"/>
            <a:t>FinancialDataAgent</a:t>
          </a:r>
          <a:r>
            <a:rPr lang="en-US" sz="1050" b="1" kern="1200" dirty="0"/>
            <a:t>:</a:t>
          </a:r>
          <a:r>
            <a:rPr lang="en-US" sz="1050" kern="1200" dirty="0"/>
            <a:t> fetches </a:t>
          </a:r>
          <a:r>
            <a:rPr lang="en-US" sz="1050" b="0" kern="1200" dirty="0"/>
            <a:t>live market and financial data (price, market cap, </a:t>
          </a:r>
          <a:endParaRPr lang="en-US" sz="1200" b="0" kern="1200" dirty="0"/>
        </a:p>
      </dsp:txBody>
      <dsp:txXfrm>
        <a:off x="4101869" y="3246"/>
        <a:ext cx="1819650" cy="932986"/>
      </dsp:txXfrm>
    </dsp:sp>
    <dsp:sp modelId="{B99CFE5C-D481-1A44-8CB3-E2E52C02D634}">
      <dsp:nvSpPr>
        <dsp:cNvPr id="0" name=""/>
        <dsp:cNvSpPr/>
      </dsp:nvSpPr>
      <dsp:spPr>
        <a:xfrm>
          <a:off x="7832343" y="424019"/>
          <a:ext cx="3270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704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986925" y="467949"/>
        <a:ext cx="17882" cy="3579"/>
      </dsp:txXfrm>
    </dsp:sp>
    <dsp:sp modelId="{DD056A0D-DF10-3842-9D0A-191458964E1E}">
      <dsp:nvSpPr>
        <dsp:cNvPr id="0" name=""/>
        <dsp:cNvSpPr/>
      </dsp:nvSpPr>
      <dsp:spPr>
        <a:xfrm>
          <a:off x="6279165" y="3246"/>
          <a:ext cx="1554978" cy="9329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195" tIns="79980" rIns="76195" bIns="7998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 err="1"/>
            <a:t>MarketTrendsAgent</a:t>
          </a:r>
          <a:r>
            <a:rPr lang="en-US" sz="1050" b="1" kern="1200" dirty="0"/>
            <a:t>:</a:t>
          </a:r>
          <a:r>
            <a:rPr lang="en-US" sz="1050" kern="1200" dirty="0"/>
            <a:t> </a:t>
          </a:r>
          <a:r>
            <a:rPr lang="en-US" sz="1050" b="0" kern="1200" dirty="0"/>
            <a:t>summarizes analyst-commentary and sector trends relevant to the ticker and focus </a:t>
          </a:r>
          <a:r>
            <a:rPr lang="en-US" sz="1200" b="0" kern="1200" dirty="0"/>
            <a:t>area.</a:t>
          </a:r>
        </a:p>
      </dsp:txBody>
      <dsp:txXfrm>
        <a:off x="6279165" y="3246"/>
        <a:ext cx="1554978" cy="932986"/>
      </dsp:txXfrm>
    </dsp:sp>
    <dsp:sp modelId="{35CA3D0B-908B-8549-B590-F1957C0FEFEB}">
      <dsp:nvSpPr>
        <dsp:cNvPr id="0" name=""/>
        <dsp:cNvSpPr/>
      </dsp:nvSpPr>
      <dsp:spPr>
        <a:xfrm>
          <a:off x="1126668" y="934433"/>
          <a:ext cx="7842609" cy="327044"/>
        </a:xfrm>
        <a:custGeom>
          <a:avLst/>
          <a:gdLst/>
          <a:ahLst/>
          <a:cxnLst/>
          <a:rect l="0" t="0" r="0" b="0"/>
          <a:pathLst>
            <a:path>
              <a:moveTo>
                <a:pt x="7842609" y="0"/>
              </a:moveTo>
              <a:lnTo>
                <a:pt x="7842609" y="180622"/>
              </a:lnTo>
              <a:lnTo>
                <a:pt x="0" y="180622"/>
              </a:lnTo>
              <a:lnTo>
                <a:pt x="0" y="327044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51703" y="1096165"/>
        <a:ext cx="392538" cy="3579"/>
      </dsp:txXfrm>
    </dsp:sp>
    <dsp:sp modelId="{EE0CBE46-917B-694F-B134-09D3A95B96FC}">
      <dsp:nvSpPr>
        <dsp:cNvPr id="0" name=""/>
        <dsp:cNvSpPr/>
      </dsp:nvSpPr>
      <dsp:spPr>
        <a:xfrm>
          <a:off x="8191788" y="3246"/>
          <a:ext cx="1554978" cy="9329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195" tIns="79980" rIns="76195" bIns="799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2. Analysis &amp; Valuation</a:t>
          </a:r>
          <a:endParaRPr lang="en-US" sz="1200" kern="1200"/>
        </a:p>
      </dsp:txBody>
      <dsp:txXfrm>
        <a:off x="8191788" y="3246"/>
        <a:ext cx="1554978" cy="932986"/>
      </dsp:txXfrm>
    </dsp:sp>
    <dsp:sp modelId="{D3896D49-EAB4-4640-99B8-32BB2D2A4962}">
      <dsp:nvSpPr>
        <dsp:cNvPr id="0" name=""/>
        <dsp:cNvSpPr/>
      </dsp:nvSpPr>
      <dsp:spPr>
        <a:xfrm>
          <a:off x="1974912" y="1801368"/>
          <a:ext cx="3270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704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29493" y="1845298"/>
        <a:ext cx="17882" cy="3579"/>
      </dsp:txXfrm>
    </dsp:sp>
    <dsp:sp modelId="{D8C870AD-B6AB-2648-8DC6-869F0FEF3590}">
      <dsp:nvSpPr>
        <dsp:cNvPr id="0" name=""/>
        <dsp:cNvSpPr/>
      </dsp:nvSpPr>
      <dsp:spPr>
        <a:xfrm>
          <a:off x="276623" y="1293878"/>
          <a:ext cx="1700088" cy="11064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195" tIns="79980" rIns="76195" bIns="799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 err="1"/>
            <a:t>AnalystAgent</a:t>
          </a:r>
          <a:r>
            <a:rPr lang="en-US" sz="1200" b="1" kern="1200" dirty="0"/>
            <a:t>:</a:t>
          </a:r>
          <a:r>
            <a:rPr lang="en-US" sz="1200" kern="1200" dirty="0"/>
            <a:t> </a:t>
          </a:r>
          <a:r>
            <a:rPr lang="en-US" sz="1050" b="0" kern="1200" dirty="0"/>
            <a:t>behaves like a junior analyst – combines the context, numbers, and trends into an integrated view</a:t>
          </a:r>
          <a:endParaRPr lang="en-US" sz="1200" b="0" kern="1200" dirty="0"/>
        </a:p>
      </dsp:txBody>
      <dsp:txXfrm>
        <a:off x="276623" y="1293878"/>
        <a:ext cx="1700088" cy="1106419"/>
      </dsp:txXfrm>
    </dsp:sp>
    <dsp:sp modelId="{54ECF201-035F-C24F-A10F-64E4642B816E}">
      <dsp:nvSpPr>
        <dsp:cNvPr id="0" name=""/>
        <dsp:cNvSpPr/>
      </dsp:nvSpPr>
      <dsp:spPr>
        <a:xfrm>
          <a:off x="3887535" y="1801368"/>
          <a:ext cx="3270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704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42116" y="1845298"/>
        <a:ext cx="17882" cy="3579"/>
      </dsp:txXfrm>
    </dsp:sp>
    <dsp:sp modelId="{6C58FBE4-2C97-984E-9147-A711F2CE75E9}">
      <dsp:nvSpPr>
        <dsp:cNvPr id="0" name=""/>
        <dsp:cNvSpPr/>
      </dsp:nvSpPr>
      <dsp:spPr>
        <a:xfrm>
          <a:off x="2334357" y="1380594"/>
          <a:ext cx="1554978" cy="9329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195" tIns="79980" rIns="76195" bIns="799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 err="1"/>
            <a:t>ValuationAgent</a:t>
          </a:r>
          <a:r>
            <a:rPr lang="en-US" sz="1200" b="1" kern="1200" dirty="0"/>
            <a:t>:</a:t>
          </a:r>
          <a:r>
            <a:rPr lang="en-US" sz="1200" kern="1200" dirty="0"/>
            <a:t> </a:t>
          </a:r>
          <a:r>
            <a:rPr lang="en-US" sz="1100" kern="1200" dirty="0"/>
            <a:t>interprets valuation using the metrics (multiples, growth, profitability) and the focus area.</a:t>
          </a:r>
          <a:endParaRPr lang="en-US" sz="1200" kern="1200" dirty="0"/>
        </a:p>
      </dsp:txBody>
      <dsp:txXfrm>
        <a:off x="2334357" y="1380594"/>
        <a:ext cx="1554978" cy="932986"/>
      </dsp:txXfrm>
    </dsp:sp>
    <dsp:sp modelId="{3247F004-CB77-6C4F-AE28-63DAD9855651}">
      <dsp:nvSpPr>
        <dsp:cNvPr id="0" name=""/>
        <dsp:cNvSpPr/>
      </dsp:nvSpPr>
      <dsp:spPr>
        <a:xfrm>
          <a:off x="5800158" y="1801368"/>
          <a:ext cx="3270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704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54739" y="1845298"/>
        <a:ext cx="17882" cy="3579"/>
      </dsp:txXfrm>
    </dsp:sp>
    <dsp:sp modelId="{2DB115F6-21CF-424D-B29A-C7C5A7256202}">
      <dsp:nvSpPr>
        <dsp:cNvPr id="0" name=""/>
        <dsp:cNvSpPr/>
      </dsp:nvSpPr>
      <dsp:spPr>
        <a:xfrm>
          <a:off x="4246980" y="1380594"/>
          <a:ext cx="1554978" cy="9329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195" tIns="79980" rIns="76195" bIns="799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3. Risk &amp; Communication</a:t>
          </a:r>
          <a:endParaRPr lang="en-US" sz="1200" kern="1200"/>
        </a:p>
      </dsp:txBody>
      <dsp:txXfrm>
        <a:off x="4246980" y="1380594"/>
        <a:ext cx="1554978" cy="932986"/>
      </dsp:txXfrm>
    </dsp:sp>
    <dsp:sp modelId="{454DC730-45ED-E940-A843-CF64AD22C80E}">
      <dsp:nvSpPr>
        <dsp:cNvPr id="0" name=""/>
        <dsp:cNvSpPr/>
      </dsp:nvSpPr>
      <dsp:spPr>
        <a:xfrm>
          <a:off x="7977081" y="1801368"/>
          <a:ext cx="3270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704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131662" y="1845298"/>
        <a:ext cx="17882" cy="3579"/>
      </dsp:txXfrm>
    </dsp:sp>
    <dsp:sp modelId="{B0CA0676-9EE8-B04B-85FC-F27A70E792EE}">
      <dsp:nvSpPr>
        <dsp:cNvPr id="0" name=""/>
        <dsp:cNvSpPr/>
      </dsp:nvSpPr>
      <dsp:spPr>
        <a:xfrm>
          <a:off x="6159603" y="1380594"/>
          <a:ext cx="1819277" cy="9329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195" tIns="79980" rIns="76195" bIns="799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 err="1"/>
            <a:t>RiskReviewerAgent</a:t>
          </a:r>
          <a:r>
            <a:rPr lang="en-US" sz="1200" b="1" kern="1200" dirty="0"/>
            <a:t>:</a:t>
          </a:r>
          <a:r>
            <a:rPr lang="en-US" sz="1200" kern="1200" dirty="0"/>
            <a:t> </a:t>
          </a:r>
          <a:r>
            <a:rPr lang="en-US" sz="1100" b="0" kern="1200" dirty="0"/>
            <a:t>does a second pass to highlight regulatory, competitive, and macro risks.</a:t>
          </a:r>
          <a:endParaRPr lang="en-US" sz="1200" b="0" kern="1200" dirty="0"/>
        </a:p>
      </dsp:txBody>
      <dsp:txXfrm>
        <a:off x="6159603" y="1380594"/>
        <a:ext cx="1819277" cy="932986"/>
      </dsp:txXfrm>
    </dsp:sp>
    <dsp:sp modelId="{30DC8617-C179-4E41-A4A6-A7D05D00F163}">
      <dsp:nvSpPr>
        <dsp:cNvPr id="0" name=""/>
        <dsp:cNvSpPr/>
      </dsp:nvSpPr>
      <dsp:spPr>
        <a:xfrm>
          <a:off x="1054112" y="2311781"/>
          <a:ext cx="8059902" cy="413761"/>
        </a:xfrm>
        <a:custGeom>
          <a:avLst/>
          <a:gdLst/>
          <a:ahLst/>
          <a:cxnLst/>
          <a:rect l="0" t="0" r="0" b="0"/>
          <a:pathLst>
            <a:path>
              <a:moveTo>
                <a:pt x="8059902" y="0"/>
              </a:moveTo>
              <a:lnTo>
                <a:pt x="8059902" y="223980"/>
              </a:lnTo>
              <a:lnTo>
                <a:pt x="0" y="223980"/>
              </a:lnTo>
              <a:lnTo>
                <a:pt x="0" y="413761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82260" y="2516872"/>
        <a:ext cx="403607" cy="3579"/>
      </dsp:txXfrm>
    </dsp:sp>
    <dsp:sp modelId="{850D23D9-486C-B942-AA9C-BB44403DAC26}">
      <dsp:nvSpPr>
        <dsp:cNvPr id="0" name=""/>
        <dsp:cNvSpPr/>
      </dsp:nvSpPr>
      <dsp:spPr>
        <a:xfrm>
          <a:off x="8336526" y="1380594"/>
          <a:ext cx="1554978" cy="9329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195" tIns="79980" rIns="76195" bIns="799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 err="1"/>
            <a:t>WriterAgent</a:t>
          </a:r>
          <a:r>
            <a:rPr lang="en-US" sz="1200" b="1" kern="1200" dirty="0"/>
            <a:t>:</a:t>
          </a:r>
          <a:r>
            <a:rPr lang="en-US" sz="1200" kern="1200" dirty="0"/>
            <a:t> </a:t>
          </a:r>
          <a:r>
            <a:rPr lang="en-US" sz="1100" b="0" kern="1200" dirty="0"/>
            <a:t>turns all of this into a sell-side style report with our standard structure.</a:t>
          </a:r>
          <a:endParaRPr lang="en-US" sz="1200" b="0" kern="1200" dirty="0"/>
        </a:p>
      </dsp:txBody>
      <dsp:txXfrm>
        <a:off x="8336526" y="1380594"/>
        <a:ext cx="1554978" cy="932986"/>
      </dsp:txXfrm>
    </dsp:sp>
    <dsp:sp modelId="{00289157-ABB4-1043-ADEF-A57DF42BAB91}">
      <dsp:nvSpPr>
        <dsp:cNvPr id="0" name=""/>
        <dsp:cNvSpPr/>
      </dsp:nvSpPr>
      <dsp:spPr>
        <a:xfrm>
          <a:off x="276623" y="2757942"/>
          <a:ext cx="1554978" cy="9329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195" tIns="79980" rIns="76195" bIns="799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ReflectionAgent:</a:t>
          </a:r>
          <a:r>
            <a:rPr lang="en-US" sz="1200" kern="1200"/>
            <a:t> lightly edits for clarity, consistency, and professional tone.</a:t>
          </a:r>
        </a:p>
      </dsp:txBody>
      <dsp:txXfrm>
        <a:off x="276623" y="2757942"/>
        <a:ext cx="1554978" cy="9329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8029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20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68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044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788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67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11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11/14/25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845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748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176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903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801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50" r:id="rId6"/>
    <p:sldLayoutId id="2147483745" r:id="rId7"/>
    <p:sldLayoutId id="2147483746" r:id="rId8"/>
    <p:sldLayoutId id="2147483747" r:id="rId9"/>
    <p:sldLayoutId id="2147483749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5666830-9A19-4E01-8505-D6C7F9AC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21E63A2-4FC2-4133-90DE-336D3C0CB3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14" r="16274" b="2"/>
          <a:stretch>
            <a:fillRect/>
          </a:stretch>
        </p:blipFill>
        <p:spPr>
          <a:xfrm>
            <a:off x="4110127" y="10"/>
            <a:ext cx="8081873" cy="685799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</p:spPr>
      </p:pic>
      <p:sp useBgFill="1">
        <p:nvSpPr>
          <p:cNvPr id="18" name="Freeform: Shape 10">
            <a:extLst>
              <a:ext uri="{FF2B5EF4-FFF2-40B4-BE49-F238E27FC236}">
                <a16:creationId xmlns:a16="http://schemas.microsoft.com/office/drawing/2014/main" id="{AE9FC877-7FB6-4D22-9988-35420644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E41809D1-F12E-46BB-B804-5F209D325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E82D3-E05E-098A-898E-D7C26AEB5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en-US" sz="4400"/>
              <a:t>AI-Driven Equity Research Copilot for LCP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3B1CD-950D-7C9A-6147-EBA217E34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756089" cy="1025753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Using </a:t>
            </a:r>
            <a:r>
              <a:rPr lang="en-US" sz="2000" dirty="0" err="1"/>
              <a:t>GenAI</a:t>
            </a:r>
            <a:r>
              <a:rPr lang="en-US" sz="2000" dirty="0"/>
              <a:t> agents and live market data to streamline equity research reports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7A2370-54C9-DC68-D3C7-8755A28F105C}"/>
              </a:ext>
            </a:extLst>
          </p:cNvPr>
          <p:cNvSpPr txBox="1"/>
          <p:nvPr/>
        </p:nvSpPr>
        <p:spPr>
          <a:xfrm>
            <a:off x="477981" y="6232317"/>
            <a:ext cx="1757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By Teddy Tenetcha </a:t>
            </a:r>
          </a:p>
        </p:txBody>
      </p:sp>
    </p:spTree>
    <p:extLst>
      <p:ext uri="{BB962C8B-B14F-4D97-AF65-F5344CB8AC3E}">
        <p14:creationId xmlns:p14="http://schemas.microsoft.com/office/powerpoint/2010/main" val="379389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5DD620-5BF8-204C-9A76-5F42488F7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en-US"/>
              <a:t>Department Needs (Equity Research – LCP)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CEBE48-B03B-0546-0C55-301BBD450F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3057150"/>
              </p:ext>
            </p:extLst>
          </p:nvPr>
        </p:nvGraphicFramePr>
        <p:xfrm>
          <a:off x="838200" y="1737360"/>
          <a:ext cx="10506456" cy="4535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297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70BEB2-05CA-DFAB-CED6-4C3820BCD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Application Vision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9144"/>
          </a:xfrm>
          <a:prstGeom prst="rect">
            <a:avLst/>
          </a:prstGeom>
          <a:solidFill>
            <a:schemeClr val="tx1">
              <a:lumMod val="65000"/>
              <a:lumOff val="35000"/>
              <a:alpha val="30000"/>
            </a:schemeClr>
          </a:solidFill>
          <a:ln w="9525">
            <a:solidFill>
              <a:schemeClr val="tx1">
                <a:lumMod val="65000"/>
                <a:lumOff val="35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99A454C-5953-F581-670F-1A0CA0104F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302246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550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6838569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46C103-CD0B-2167-6D2A-71F252A14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978619"/>
            <a:ext cx="5991244" cy="1106424"/>
          </a:xfrm>
        </p:spPr>
        <p:txBody>
          <a:bodyPr>
            <a:normAutofit/>
          </a:bodyPr>
          <a:lstStyle/>
          <a:p>
            <a:r>
              <a:rPr lang="en-US" sz="3200"/>
              <a:t>How the Equity Research Copilot Works (User Journey)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8" y="2093976"/>
            <a:ext cx="5846683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5A122-D1B3-236D-2600-54869EE24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252870"/>
            <a:ext cx="5993892" cy="356025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100" dirty="0"/>
              <a:t>The analyst opens the </a:t>
            </a:r>
            <a:r>
              <a:rPr lang="en-US" sz="1100" b="1" dirty="0"/>
              <a:t>LCP Equity Research Copilot</a:t>
            </a:r>
            <a:r>
              <a:rPr lang="en-US" sz="1100" dirty="0"/>
              <a:t>.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Enters a </a:t>
            </a:r>
            <a:r>
              <a:rPr lang="en-US" sz="1100" b="1" dirty="0"/>
              <a:t>ticker</a:t>
            </a:r>
            <a:r>
              <a:rPr lang="en-US" sz="1100" dirty="0"/>
              <a:t> (e.g., NVDA) and an optional </a:t>
            </a:r>
            <a:r>
              <a:rPr lang="en-US" sz="1100" b="1" dirty="0"/>
              <a:t>focus area</a:t>
            </a:r>
            <a:endParaRPr lang="en-US" sz="1100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Examples: “AI &amp; data center”, “gaming”, “energy exposure”.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Clicks </a:t>
            </a:r>
            <a:r>
              <a:rPr lang="en-US" sz="1100" b="1" dirty="0"/>
              <a:t>“Generate Research Report”</a:t>
            </a:r>
            <a:r>
              <a:rPr lang="en-US" sz="1100" dirty="0"/>
              <a:t>.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The system automatically drafts a </a:t>
            </a:r>
            <a:r>
              <a:rPr lang="en-US" sz="1100" b="1" dirty="0"/>
              <a:t>structured equity research report</a:t>
            </a:r>
            <a:r>
              <a:rPr lang="en-US" sz="1100" dirty="0"/>
              <a:t> with: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Executive Summary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Investment Thesis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Key Catalysts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Financial &amp; Operating Snapshot (with live metrics)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Valuation Discussion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Key Risks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Conclusion (Buy / Hold / Sell – no price target)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The analyst then </a:t>
            </a:r>
            <a:r>
              <a:rPr lang="en-US" sz="1100" b="1" dirty="0"/>
              <a:t>reviews, edits, and approves</a:t>
            </a:r>
            <a:r>
              <a:rPr lang="en-US" sz="1100" dirty="0"/>
              <a:t> the report before sharing it.</a:t>
            </a:r>
          </a:p>
          <a:p>
            <a:pPr>
              <a:lnSpc>
                <a:spcPct val="100000"/>
              </a:lnSpc>
            </a:pPr>
            <a:endParaRPr lang="en-US" sz="1100" dirty="0"/>
          </a:p>
        </p:txBody>
      </p:sp>
      <p:pic>
        <p:nvPicPr>
          <p:cNvPr id="5" name="Picture 4" descr="A diagram of a process&#10;&#10;Description automatically generated">
            <a:extLst>
              <a:ext uri="{FF2B5EF4-FFF2-40B4-BE49-F238E27FC236}">
                <a16:creationId xmlns:a16="http://schemas.microsoft.com/office/drawing/2014/main" id="{1E8F48E8-1AF8-B2BC-B334-D014A628F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814" y="768734"/>
            <a:ext cx="4097657" cy="521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64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607ED-9802-7AA0-44EB-82489A84A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Happens Behind the Scenes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854108-E89C-D36B-8EE3-FD1B5E51A4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8539444"/>
              </p:ext>
            </p:extLst>
          </p:nvPr>
        </p:nvGraphicFramePr>
        <p:xfrm>
          <a:off x="1115568" y="2478024"/>
          <a:ext cx="10168128" cy="3694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3269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5F252C-DDCA-5B8F-09EE-2DB3B64E1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/>
              <a:t>Core Functionality &amp; Impact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85C41CC-E778-FEBD-D0E8-EB8E454EB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00" b="1" dirty="0"/>
              <a:t>Data-backed first drafts: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/>
              <a:t>Uses live market data (price, market cap, revenue, margins, FCF, 52-week range).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/>
              <a:t>Ensures the Financial &amp; Operating Snapshot and valuation sections are grounded in numbers.</a:t>
            </a:r>
          </a:p>
          <a:p>
            <a:pPr>
              <a:lnSpc>
                <a:spcPct val="100000"/>
              </a:lnSpc>
            </a:pPr>
            <a:r>
              <a:rPr lang="en-US" sz="1300" b="1" dirty="0"/>
              <a:t>Personalized analysis: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/>
              <a:t>Optional focus area steers the narrative (e.g., AI &amp; data center vs gaming vs energy).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 err="1"/>
              <a:t>MarketTrendsAgent</a:t>
            </a:r>
            <a:r>
              <a:rPr lang="en-US" sz="1300" dirty="0"/>
              <a:t> highlights trends and commentary most relevant to that theme.</a:t>
            </a:r>
          </a:p>
          <a:p>
            <a:pPr>
              <a:lnSpc>
                <a:spcPct val="100000"/>
              </a:lnSpc>
            </a:pPr>
            <a:r>
              <a:rPr lang="en-US" sz="1300" b="1" dirty="0"/>
              <a:t>Speed &amp; consistency: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/>
              <a:t>Draft report generated in minutes instead of hours.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/>
              <a:t>Common structure across names: thesis, catalysts, snapshot, valuation, risks.</a:t>
            </a:r>
          </a:p>
          <a:p>
            <a:pPr>
              <a:lnSpc>
                <a:spcPct val="100000"/>
              </a:lnSpc>
            </a:pPr>
            <a:r>
              <a:rPr lang="en-US" sz="1300" b="1" dirty="0"/>
              <a:t>Human-in-the-loop by design: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/>
              <a:t>Output is a draft, not an automated rating.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/>
              <a:t>Analysts remain responsible for final judgment and compliance.</a:t>
            </a:r>
          </a:p>
          <a:p>
            <a:pPr>
              <a:lnSpc>
                <a:spcPct val="100000"/>
              </a:lnSpc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549820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2A764C-44E4-D1C9-979E-E73817927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Prototype Demonstration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BFA4DEE3-13C4-694A-FCD1-47B04365C7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689" b="-3"/>
          <a:stretch>
            <a:fillRect/>
          </a:stretch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DC98E-0891-D19D-D210-D9D295F43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1453" y="2478024"/>
            <a:ext cx="3872243" cy="3694176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1100" dirty="0"/>
              <a:t>Current prototype is implemented in </a:t>
            </a:r>
            <a:r>
              <a:rPr lang="en-US" sz="1100" b="1" dirty="0"/>
              <a:t>Google </a:t>
            </a:r>
            <a:r>
              <a:rPr lang="en-US" sz="1100" b="1" dirty="0" err="1"/>
              <a:t>Colab</a:t>
            </a:r>
            <a:r>
              <a:rPr lang="en-US" sz="1100" dirty="0"/>
              <a:t>, but mimics a simple internal tool UI.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/>
              <a:t>The analyst only interacts with </a:t>
            </a:r>
            <a:r>
              <a:rPr lang="en-US" sz="1100" b="1" dirty="0"/>
              <a:t>one cell</a:t>
            </a:r>
            <a:r>
              <a:rPr lang="en-US" sz="1100" dirty="0"/>
              <a:t>: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Enters a </a:t>
            </a:r>
            <a:r>
              <a:rPr lang="en-US" sz="1100" b="1" dirty="0"/>
              <a:t>stock ticker</a:t>
            </a:r>
            <a:r>
              <a:rPr lang="en-US" sz="1100" dirty="0"/>
              <a:t> (e.g., NVDA).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Optionally enters a </a:t>
            </a:r>
            <a:r>
              <a:rPr lang="en-US" sz="1100" b="1" dirty="0"/>
              <a:t>focus area</a:t>
            </a:r>
            <a:r>
              <a:rPr lang="en-US" sz="1100" dirty="0"/>
              <a:t> (e.g., “AI &amp; data center”, “gaming”, “Energy”).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On Run, this single cell calls:</a:t>
            </a:r>
          </a:p>
          <a:p>
            <a:pPr rtl="0">
              <a:lnSpc>
                <a:spcPct val="100000"/>
              </a:lnSpc>
            </a:pPr>
            <a:r>
              <a:rPr lang="en-US" sz="1100" dirty="0"/>
              <a:t>supervisor = </a:t>
            </a:r>
            <a:r>
              <a:rPr lang="en-US" sz="1100" dirty="0" err="1"/>
              <a:t>SupervisorAgent</a:t>
            </a:r>
            <a:r>
              <a:rPr lang="en-US" sz="1100" dirty="0"/>
              <a:t>() </a:t>
            </a:r>
            <a:r>
              <a:rPr lang="en-US" sz="1100" dirty="0" err="1"/>
              <a:t>final_report</a:t>
            </a:r>
            <a:r>
              <a:rPr lang="en-US" sz="1100" dirty="0"/>
              <a:t> = </a:t>
            </a:r>
            <a:r>
              <a:rPr lang="en-US" sz="1100" dirty="0" err="1"/>
              <a:t>supervisor.run</a:t>
            </a:r>
            <a:r>
              <a:rPr lang="en-US" sz="1100" dirty="0"/>
              <a:t>(ticker=ticker, focus=focus) 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Behind this simple interface, the </a:t>
            </a:r>
            <a:r>
              <a:rPr lang="en-US" sz="1100" b="1" dirty="0"/>
              <a:t>entire multi-agent pipeline</a:t>
            </a:r>
            <a:r>
              <a:rPr lang="en-US" sz="1100" dirty="0"/>
              <a:t> executes: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Data collection → financial metrics → market trends → analysis → valuation → risks → report writing.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Goal: keep the </a:t>
            </a:r>
            <a:r>
              <a:rPr lang="en-US" sz="1100" b="1" dirty="0"/>
              <a:t>user experience simple and familiar</a:t>
            </a:r>
            <a:r>
              <a:rPr lang="en-US" sz="1100" dirty="0"/>
              <a:t> for equity analysts while hiding </a:t>
            </a:r>
            <a:r>
              <a:rPr lang="en-US" sz="1100" dirty="0" err="1"/>
              <a:t>GenAI</a:t>
            </a:r>
            <a:r>
              <a:rPr lang="en-US" sz="1100" dirty="0"/>
              <a:t> complexity under the hood.</a:t>
            </a:r>
          </a:p>
          <a:p>
            <a:pPr>
              <a:lnSpc>
                <a:spcPct val="100000"/>
              </a:lnSpc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40715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A5AA93-499F-4B6B-00CA-414931764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3700" b="1"/>
              <a:t>Prototype Output: NVDA Equity Research Report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F71AD6C2-07C0-8FE3-F72E-DEE3935F4E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032" b="2"/>
          <a:stretch>
            <a:fillRect/>
          </a:stretch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31BDB-6B72-1477-A137-6A781800F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1453" y="2478024"/>
            <a:ext cx="3872243" cy="3694176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500" dirty="0"/>
              <a:t>Auto-generated </a:t>
            </a:r>
            <a:r>
              <a:rPr lang="en-US" sz="1500" b="1" dirty="0"/>
              <a:t>sell-side style report</a:t>
            </a:r>
            <a:r>
              <a:rPr lang="en-US" sz="1500" dirty="0"/>
              <a:t> for NVIDIA (NVDA).</a:t>
            </a:r>
          </a:p>
          <a:p>
            <a:pPr>
              <a:lnSpc>
                <a:spcPct val="100000"/>
              </a:lnSpc>
            </a:pPr>
            <a:r>
              <a:rPr lang="en-US" sz="1500" b="1" dirty="0"/>
              <a:t>Standard sections</a:t>
            </a:r>
            <a:r>
              <a:rPr lang="en-US" sz="1500" dirty="0"/>
              <a:t>: Executive Summary, Investment Thesis, etc.</a:t>
            </a:r>
          </a:p>
          <a:p>
            <a:pPr>
              <a:lnSpc>
                <a:spcPct val="100000"/>
              </a:lnSpc>
            </a:pPr>
            <a:r>
              <a:rPr lang="en-US" sz="1500" dirty="0"/>
              <a:t>Snapshot is </a:t>
            </a:r>
            <a:r>
              <a:rPr lang="en-US" sz="1500" b="1" dirty="0"/>
              <a:t>data-backed</a:t>
            </a:r>
            <a:r>
              <a:rPr lang="en-US" sz="1500" dirty="0"/>
              <a:t> using live metrics (price, market cap, P/E, revenue, </a:t>
            </a:r>
            <a:r>
              <a:rPr lang="en-US" sz="1500" dirty="0" err="1"/>
              <a:t>ect</a:t>
            </a:r>
            <a:r>
              <a:rPr lang="en-US" sz="1500" dirty="0"/>
              <a:t>).</a:t>
            </a:r>
          </a:p>
          <a:p>
            <a:pPr>
              <a:lnSpc>
                <a:spcPct val="100000"/>
              </a:lnSpc>
            </a:pPr>
            <a:r>
              <a:rPr lang="en-US" sz="1500" dirty="0"/>
              <a:t>Analysts can </a:t>
            </a:r>
            <a:r>
              <a:rPr lang="en-US" sz="1500" b="1" dirty="0"/>
              <a:t>review and edit</a:t>
            </a:r>
            <a:r>
              <a:rPr lang="en-US" sz="1500" dirty="0"/>
              <a:t> this draft just like a junior analyst’s first version.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645579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40D068-2F01-B52B-0E47-1882C696F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061" y="1002262"/>
            <a:ext cx="4089356" cy="4526280"/>
          </a:xfrm>
        </p:spPr>
        <p:txBody>
          <a:bodyPr>
            <a:normAutofit/>
          </a:bodyPr>
          <a:lstStyle/>
          <a:p>
            <a:r>
              <a:rPr lang="en-US" sz="3200" dirty="0"/>
              <a:t>How the Research Copilot Improves Equity Research at LCP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7AFB2-E990-F69E-CCE2-A03D55CA5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Accelerates report creation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Drafts full equity research reports in </a:t>
            </a:r>
            <a:r>
              <a:rPr lang="en-US" sz="2000" b="1" dirty="0"/>
              <a:t>minutes instead of hours</a:t>
            </a:r>
            <a:r>
              <a:rPr lang="en-US" sz="2000" dirty="0"/>
              <a:t>, reducing repetitive writing work.</a:t>
            </a:r>
          </a:p>
          <a:p>
            <a:r>
              <a:rPr lang="en-US" sz="2000" b="1" dirty="0"/>
              <a:t>Enhances analyst productivity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Frees analysts to focus on </a:t>
            </a:r>
            <a:r>
              <a:rPr lang="en-US" sz="2000" b="1" dirty="0"/>
              <a:t>idea generation, modeling, and client discussions</a:t>
            </a:r>
            <a:r>
              <a:rPr lang="en-US" sz="2000" dirty="0"/>
              <a:t> rather than gathering data and writing boilerplate sections.</a:t>
            </a:r>
          </a:p>
          <a:p>
            <a:r>
              <a:rPr lang="en-US" sz="2000" b="1" dirty="0"/>
              <a:t>Scalable across coverage universe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Generates first-draft reports for </a:t>
            </a:r>
            <a:r>
              <a:rPr lang="en-US" sz="2000" b="1" dirty="0"/>
              <a:t>any ticker</a:t>
            </a:r>
            <a:r>
              <a:rPr lang="en-US" sz="2000" dirty="0"/>
              <a:t>, enabling faster coverage expansion without needing more headcount.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92919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98A2D6-AFB2-797D-F73E-81B20130A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3400" b="1"/>
              <a:t>Implementation Challenges &amp; Risks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D69E8-4420-6E85-111B-52A8A3FB5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/>
              <a:t>1. Data Quality &amp; Model Accuracy</a:t>
            </a:r>
            <a:endParaRPr lang="en-US" sz="1600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 err="1"/>
              <a:t>GenAI</a:t>
            </a:r>
            <a:r>
              <a:rPr lang="en-US" sz="1600" dirty="0"/>
              <a:t> may misinterpret less-followed companies or produce inaccurate qualitative descriptions.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Mitigation:</a:t>
            </a:r>
            <a:r>
              <a:rPr lang="en-US" sz="1600" dirty="0"/>
              <a:t> Require analyst review; anchor outputs to verified financial data.</a:t>
            </a:r>
          </a:p>
          <a:p>
            <a:pPr>
              <a:lnSpc>
                <a:spcPct val="100000"/>
              </a:lnSpc>
            </a:pPr>
            <a:r>
              <a:rPr lang="en-US" sz="1600" b="1" dirty="0"/>
              <a:t>2. Analyst Adoption &amp; Trust</a:t>
            </a:r>
            <a:endParaRPr lang="en-US" sz="1600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Some team members may be hesitant to rely on AI-generated reports.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Mitigation:</a:t>
            </a:r>
            <a:r>
              <a:rPr lang="en-US" sz="1600" dirty="0"/>
              <a:t> Position the tool as a </a:t>
            </a:r>
            <a:r>
              <a:rPr lang="en-US" sz="1600" i="1" dirty="0"/>
              <a:t>first-draft assistant</a:t>
            </a:r>
            <a:r>
              <a:rPr lang="en-US" sz="1600" dirty="0"/>
              <a:t>, not a replacement; provide training and demonstrations.</a:t>
            </a:r>
          </a:p>
          <a:p>
            <a:pPr>
              <a:lnSpc>
                <a:spcPct val="100000"/>
              </a:lnSpc>
            </a:pPr>
            <a:r>
              <a:rPr lang="en-US" sz="1600" b="1" dirty="0"/>
              <a:t>3. Integration with Existing Research Workflows</a:t>
            </a:r>
            <a:endParaRPr lang="en-US" sz="1600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Connecting the tool to internal databases, modeling tools, or compliance processes may be complex.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Mitigation:</a:t>
            </a:r>
            <a:r>
              <a:rPr lang="en-US" sz="1600" dirty="0"/>
              <a:t> Launch as a standalone prototype first; integrate gradually based on user feedback.</a:t>
            </a:r>
          </a:p>
          <a:p>
            <a:pPr>
              <a:lnSpc>
                <a:spcPct val="10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40939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1A1C5D3-C053-4EE9-BE1A-419B6E27C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07A6B5-CF38-B0F7-5792-C76329F28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9655C9E1-A3FD-14BB-5D2E-8EB47832D5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7744" y="2139484"/>
            <a:ext cx="4096512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570515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955</Words>
  <Application>Microsoft Macintosh PowerPoint</Application>
  <PresentationFormat>Widescreen</PresentationFormat>
  <Paragraphs>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Avenir Next LT Pro</vt:lpstr>
      <vt:lpstr>Calibri</vt:lpstr>
      <vt:lpstr>AccentBoxVTI</vt:lpstr>
      <vt:lpstr>AI-Driven Equity Research Copilot for LCP</vt:lpstr>
      <vt:lpstr>Department Needs (Equity Research – LCP)</vt:lpstr>
      <vt:lpstr>Application Vision</vt:lpstr>
      <vt:lpstr>How the Equity Research Copilot Works (User Journey)</vt:lpstr>
      <vt:lpstr>What Happens Behind the Scenes</vt:lpstr>
      <vt:lpstr>Core Functionality &amp; Impact</vt:lpstr>
      <vt:lpstr>Prototype Demonstration</vt:lpstr>
      <vt:lpstr>Prototype Output: NVDA Equity Research Report</vt:lpstr>
      <vt:lpstr>How the Research Copilot Improves Equity Research at LCP</vt:lpstr>
      <vt:lpstr>Implementation Challenges &amp; Risks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Teddy Tenetcha</dc:creator>
  <cp:lastModifiedBy>Teddy Tenetcha</cp:lastModifiedBy>
  <cp:revision>2</cp:revision>
  <dcterms:created xsi:type="dcterms:W3CDTF">2025-11-15T00:15:09Z</dcterms:created>
  <dcterms:modified xsi:type="dcterms:W3CDTF">2025-11-15T02:38:55Z</dcterms:modified>
</cp:coreProperties>
</file>